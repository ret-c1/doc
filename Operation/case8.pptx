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6"/>
  </p:notesMasterIdLst>
  <p:sldIdLst>
    <p:sldId id="1952" r:id="rId2"/>
    <p:sldId id="1953" r:id="rId3"/>
    <p:sldId id="1950" r:id="rId4"/>
    <p:sldId id="1951" r:id="rId5"/>
  </p:sldIdLst>
  <p:sldSz cx="12192000" cy="6858000"/>
  <p:notesSz cx="7104063" cy="10234613"/>
  <p:custDataLst>
    <p:tags r:id="rId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前言/概述" id="{11A529FF-2522-4A7C-A960-501259BB917B}">
          <p14:sldIdLst/>
        </p14:section>
        <p14:section name="现状调研" id="{AA0C7CC3-7BF7-4378-81D3-D3D782D1AF06}">
          <p14:sldIdLst/>
        </p14:section>
        <p14:section name="需求分析" id="{4BBDCAE0-AD51-4CC2-8CD5-271D86AAC680}">
          <p14:sldIdLst/>
        </p14:section>
        <p14:section name="总体设计" id="{995B8A9A-AB1B-4C4F-A59C-BB9A374FB5F1}">
          <p14:sldIdLst/>
        </p14:section>
        <p14:section name="详细设计" id="{28E1ED73-3B89-492D-BF0C-4EED1AA00D8A}">
          <p14:sldIdLst>
            <p14:sldId id="1952"/>
            <p14:sldId id="1953"/>
            <p14:sldId id="1950"/>
            <p14:sldId id="1951"/>
          </p14:sldIdLst>
        </p14:section>
        <p14:section name="体系实施路线图" id="{E4200D7E-D907-465A-943C-441B0C0F7827}">
          <p14:sldIdLst/>
        </p14:section>
        <p14:section name="体系实施重大任务" id="{EFDF95ED-C29F-4063-A90E-4C1D97AA4B1F}">
          <p14:sldIdLst/>
        </p14:section>
        <p14:section name="资源投入" id="{824185D7-52D9-497B-9FF4-6A6DAEC93997}">
          <p14:sldIdLst/>
        </p14:section>
        <p14:section name="附录" id="{4AEF338A-DDA7-4042-86EB-02B20069C86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73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x" lastIdx="1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Administrator" initials="A" lastIdx="52" clrIdx="1">
    <p:extLst>
      <p:ext uri="{19B8F6BF-5375-455C-9EA6-DF929625EA0E}">
        <p15:presenceInfo xmlns:p15="http://schemas.microsoft.com/office/powerpoint/2012/main" userId="Administrator" providerId="None"/>
      </p:ext>
    </p:extLst>
  </p:cmAuthor>
  <p:cmAuthor id="3" name="hhr" initials="h" lastIdx="15" clrIdx="2">
    <p:extLst>
      <p:ext uri="{19B8F6BF-5375-455C-9EA6-DF929625EA0E}">
        <p15:presenceInfo xmlns:p15="http://schemas.microsoft.com/office/powerpoint/2012/main" userId="hh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7"/>
    <a:srgbClr val="DCDCDC"/>
    <a:srgbClr val="8EB4E3"/>
    <a:srgbClr val="376092"/>
    <a:srgbClr val="4F81BD"/>
    <a:srgbClr val="FFFFFF"/>
    <a:srgbClr val="C6D9F1"/>
    <a:srgbClr val="C4BD97"/>
    <a:srgbClr val="404040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1" autoAdjust="0"/>
    <p:restoredTop sz="95074" autoAdjust="0"/>
  </p:normalViewPr>
  <p:slideViewPr>
    <p:cSldViewPr>
      <p:cViewPr varScale="1">
        <p:scale>
          <a:sx n="109" d="100"/>
          <a:sy n="109" d="100"/>
        </p:scale>
        <p:origin x="348" y="96"/>
      </p:cViewPr>
      <p:guideLst>
        <p:guide orient="horz" pos="3748"/>
        <p:guide pos="7333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24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F1963386-5E24-4011-B785-B04FA0AE65F5}" type="datetimeFigureOut">
              <a:rPr lang="zh-CN" altLang="en-US"/>
              <a:pPr>
                <a:defRPr/>
              </a:pPr>
              <a:t>2020/10/9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0EDB7A3B-BEF2-4E11-A2D0-84BA3E6481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1357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DB7A3B-BEF2-4E11-A2D0-84BA3E6481F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045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改锥形图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DB7A3B-BEF2-4E11-A2D0-84BA3E6481FA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290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609600" y="278394"/>
            <a:ext cx="10972800" cy="929116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1854A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单击此处编辑母版一级标题样式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609600" y="1268760"/>
            <a:ext cx="10972800" cy="5040560"/>
          </a:xfrm>
        </p:spPr>
        <p:txBody>
          <a:bodyPr>
            <a:normAutofit/>
          </a:bodyPr>
          <a:lstStyle>
            <a:lvl1pPr>
              <a:defRPr sz="2400" b="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单击此处编辑二级标题</a:t>
            </a:r>
          </a:p>
          <a:p>
            <a:pPr lvl="1"/>
            <a:r>
              <a:rPr lang="zh-CN" altLang="en-US" dirty="0"/>
              <a:t>单击此处编辑三级标题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04312" y="44624"/>
            <a:ext cx="3096344" cy="6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1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56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36360" y="6356352"/>
            <a:ext cx="2743200" cy="365125"/>
          </a:xfrm>
          <a:prstGeom prst="rect">
            <a:avLst/>
          </a:prstGeom>
        </p:spPr>
        <p:txBody>
          <a:bodyPr rIns="0"/>
          <a:lstStyle>
            <a:lvl1pPr algn="r">
              <a:defRPr/>
            </a:lvl1pPr>
          </a:lstStyle>
          <a:p>
            <a:fld id="{D06C1031-165E-48F2-A7A4-E55D77A54FC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062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904312" y="44624"/>
            <a:ext cx="3096344" cy="6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469D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00469D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00469D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00469D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00469D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00469D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image" Target="../media/image3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/>
          <p:cNvGrpSpPr/>
          <p:nvPr/>
        </p:nvGrpSpPr>
        <p:grpSpPr>
          <a:xfrm>
            <a:off x="1250779" y="800591"/>
            <a:ext cx="9943377" cy="5982560"/>
            <a:chOff x="1240696" y="742896"/>
            <a:chExt cx="9943377" cy="5982560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3BD30C21-E6BF-427D-AE72-C07DA55D8051}"/>
                </a:ext>
              </a:extLst>
            </p:cNvPr>
            <p:cNvSpPr/>
            <p:nvPr/>
          </p:nvSpPr>
          <p:spPr>
            <a:xfrm>
              <a:off x="2067114" y="1716634"/>
              <a:ext cx="8270619" cy="5008347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0" algn="ctr">
                <a:lnSpc>
                  <a:spcPct val="150000"/>
                </a:lnSpc>
              </a:pPr>
              <a:endPara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3BD30C21-E6BF-427D-AE72-C07DA55D8051}"/>
                </a:ext>
              </a:extLst>
            </p:cNvPr>
            <p:cNvSpPr/>
            <p:nvPr/>
          </p:nvSpPr>
          <p:spPr>
            <a:xfrm>
              <a:off x="2073504" y="5614719"/>
              <a:ext cx="8256731" cy="39141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E4F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提升网络安全防护能力（硬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软实力）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：保障体系、人才、能力、知识库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5" name="组合 194"/>
            <p:cNvGrpSpPr/>
            <p:nvPr/>
          </p:nvGrpSpPr>
          <p:grpSpPr>
            <a:xfrm>
              <a:off x="1240696" y="742896"/>
              <a:ext cx="9943377" cy="5982560"/>
              <a:chOff x="1240696" y="742896"/>
              <a:chExt cx="9943377" cy="5982560"/>
            </a:xfrm>
            <a:noFill/>
          </p:grpSpPr>
          <p:sp>
            <p:nvSpPr>
              <p:cNvPr id="196" name="左右箭头 195"/>
              <p:cNvSpPr/>
              <p:nvPr/>
            </p:nvSpPr>
            <p:spPr>
              <a:xfrm>
                <a:off x="2045485" y="6011207"/>
                <a:ext cx="8274907" cy="714249"/>
              </a:xfrm>
              <a:prstGeom prst="leftRightArrow">
                <a:avLst/>
              </a:prstGeom>
              <a:solidFill>
                <a:srgbClr val="4F81BD"/>
              </a:solidFill>
              <a:ln w="19050">
                <a:solidFill>
                  <a:srgbClr val="4F81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围绕安全管控目标，逐步落地三大体系，实现安全运行一体化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BD30C21-E6BF-427D-AE72-C07DA55D8051}"/>
                  </a:ext>
                </a:extLst>
              </p:cNvPr>
              <p:cNvSpPr/>
              <p:nvPr/>
            </p:nvSpPr>
            <p:spPr>
              <a:xfrm>
                <a:off x="2073504" y="1744003"/>
                <a:ext cx="8272081" cy="635157"/>
              </a:xfrm>
              <a:prstGeom prst="rect">
                <a:avLst/>
              </a:prstGeom>
              <a:grpFill/>
              <a:ln w="19050">
                <a:solidFill>
                  <a:srgbClr val="4F81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lvl="0" algn="ctr"/>
                <a:r>
                  <a:rPr lang="zh-CN" altLang="en-US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中心总部及下属单位</a:t>
                </a:r>
                <a:r>
                  <a:rPr lang="zh-CN" altLang="en-US" sz="1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（保护对象、管控对象）</a:t>
                </a:r>
                <a:endPara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algn="ctr"/>
                <a:r>
                  <a:rPr lang="en-US" altLang="zh-CN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、中心级关键信息基础设施、统建系统、重点信息系统</a:t>
                </a:r>
                <a:r>
                  <a:rPr lang="en-US" altLang="zh-CN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/2</a:t>
                </a:r>
                <a:r>
                  <a:rPr lang="zh-CN" altLang="en-US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、中心直属、下属单位（含外省）重要信息系统</a:t>
                </a:r>
                <a:r>
                  <a:rPr lang="en-US" altLang="zh-CN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/3</a:t>
                </a:r>
                <a:r>
                  <a:rPr lang="zh-CN" altLang="en-US" sz="14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、其他系统</a:t>
                </a:r>
              </a:p>
            </p:txBody>
          </p:sp>
          <p:grpSp>
            <p:nvGrpSpPr>
              <p:cNvPr id="198" name="组合 197"/>
              <p:cNvGrpSpPr/>
              <p:nvPr/>
            </p:nvGrpSpPr>
            <p:grpSpPr>
              <a:xfrm>
                <a:off x="2080836" y="2433240"/>
                <a:ext cx="2735990" cy="3128728"/>
                <a:chOff x="3503952" y="2175330"/>
                <a:chExt cx="2265415" cy="2876572"/>
              </a:xfrm>
              <a:grpFill/>
            </p:grpSpPr>
            <p:sp>
              <p:nvSpPr>
                <p:cNvPr id="209" name="矩形 208">
                  <a:extLst>
                    <a:ext uri="{FF2B5EF4-FFF2-40B4-BE49-F238E27FC236}">
                      <a16:creationId xmlns:a16="http://schemas.microsoft.com/office/drawing/2014/main" id="{3BD30C21-E6BF-427D-AE72-C07DA55D8051}"/>
                    </a:ext>
                  </a:extLst>
                </p:cNvPr>
                <p:cNvSpPr/>
                <p:nvPr/>
              </p:nvSpPr>
              <p:spPr>
                <a:xfrm>
                  <a:off x="3503952" y="2175330"/>
                  <a:ext cx="2160000" cy="2876572"/>
                </a:xfrm>
                <a:prstGeom prst="rect">
                  <a:avLst/>
                </a:prstGeom>
                <a:grpFill/>
                <a:ln w="19050">
                  <a:solidFill>
                    <a:srgbClr val="4F81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安全管理体系</a:t>
                  </a:r>
                </a:p>
              </p:txBody>
            </p:sp>
            <p:sp>
              <p:nvSpPr>
                <p:cNvPr id="210" name="文本框 209"/>
                <p:cNvSpPr txBox="1"/>
                <p:nvPr/>
              </p:nvSpPr>
              <p:spPr>
                <a:xfrm>
                  <a:off x="3506248" y="2596756"/>
                  <a:ext cx="2263119" cy="229207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确定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安全策略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及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总纲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制定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安全制度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体系、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安全组织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体系和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安全考核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体系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建立中心总部与下属单位之间的网络安全管理模式（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指导、监督、检查、考核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形成</a:t>
                  </a:r>
                  <a:r>
                    <a:rPr lang="en-US" altLang="zh-CN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PDCA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机制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，达到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既定管控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目的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中心直属、下属单位（含外省）应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参照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中心安全管控要求，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制定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本单位的总体安全策略和安全制度，形成安全管理机制，保持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一体化</a:t>
                  </a:r>
                  <a:endPara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9" name="组合 198"/>
              <p:cNvGrpSpPr/>
              <p:nvPr/>
            </p:nvGrpSpPr>
            <p:grpSpPr>
              <a:xfrm>
                <a:off x="4727848" y="2423295"/>
                <a:ext cx="2980240" cy="3138673"/>
                <a:chOff x="5444051" y="2167372"/>
                <a:chExt cx="2467654" cy="2885716"/>
              </a:xfrm>
              <a:grpFill/>
            </p:grpSpPr>
            <p:sp>
              <p:nvSpPr>
                <p:cNvPr id="207" name="矩形 206">
                  <a:extLst>
                    <a:ext uri="{FF2B5EF4-FFF2-40B4-BE49-F238E27FC236}">
                      <a16:creationId xmlns:a16="http://schemas.microsoft.com/office/drawing/2014/main" id="{3BD30C21-E6BF-427D-AE72-C07DA55D8051}"/>
                    </a:ext>
                  </a:extLst>
                </p:cNvPr>
                <p:cNvSpPr/>
                <p:nvPr/>
              </p:nvSpPr>
              <p:spPr>
                <a:xfrm>
                  <a:off x="5480330" y="2167372"/>
                  <a:ext cx="2376000" cy="2885716"/>
                </a:xfrm>
                <a:prstGeom prst="rect">
                  <a:avLst/>
                </a:prstGeom>
                <a:grpFill/>
                <a:ln w="19050">
                  <a:solidFill>
                    <a:srgbClr val="4F81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安全技术体系</a:t>
                  </a:r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>
                  <a:off x="5444051" y="2600637"/>
                  <a:ext cx="2467654" cy="2122288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夯实基础保护、强化重点保护、实现指挥协同保护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实现中心关键信息基础设施、统建系统和重点信息系统的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看、管、监、控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实现中心直属、下属单位（含外省）重要信息系统的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监、控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、看、管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逐步实现全中心所有信息系统的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监、控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、看、管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逐步完善</a:t>
                  </a:r>
                  <a:r>
                    <a:rPr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大库建设：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资产库：管控资产全面清晰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风险库：</a:t>
                  </a:r>
                  <a:r>
                    <a:rPr lang="en-US" altLang="zh-CN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IT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风险全面掌握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en-US" altLang="zh-CN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 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能力库：构建安全能力中心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00" name="组合 199"/>
              <p:cNvGrpSpPr/>
              <p:nvPr/>
            </p:nvGrpSpPr>
            <p:grpSpPr>
              <a:xfrm>
                <a:off x="7704041" y="2438679"/>
                <a:ext cx="2679633" cy="3126661"/>
                <a:chOff x="8179164" y="2154911"/>
                <a:chExt cx="2218751" cy="3355806"/>
              </a:xfrm>
              <a:grpFill/>
            </p:grpSpPr>
            <p:sp>
              <p:nvSpPr>
                <p:cNvPr id="204" name="矩形 203">
                  <a:extLst>
                    <a:ext uri="{FF2B5EF4-FFF2-40B4-BE49-F238E27FC236}">
                      <a16:creationId xmlns:a16="http://schemas.microsoft.com/office/drawing/2014/main" id="{3BD30C21-E6BF-427D-AE72-C07DA55D8051}"/>
                    </a:ext>
                  </a:extLst>
                </p:cNvPr>
                <p:cNvSpPr/>
                <p:nvPr/>
              </p:nvSpPr>
              <p:spPr>
                <a:xfrm>
                  <a:off x="8179164" y="2154911"/>
                  <a:ext cx="2160000" cy="3355806"/>
                </a:xfrm>
                <a:prstGeom prst="rect">
                  <a:avLst/>
                </a:prstGeom>
                <a:grpFill/>
                <a:ln w="19050">
                  <a:solidFill>
                    <a:srgbClr val="4F81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安全运营体系</a:t>
                  </a:r>
                </a:p>
              </p:txBody>
            </p:sp>
            <p:sp>
              <p:nvSpPr>
                <p:cNvPr id="206" name="矩形 205">
                  <a:extLst>
                    <a:ext uri="{FF2B5EF4-FFF2-40B4-BE49-F238E27FC236}">
                      <a16:creationId xmlns:a16="http://schemas.microsoft.com/office/drawing/2014/main" id="{40C7FEDE-59C7-405C-973D-B5C9004980BA}"/>
                    </a:ext>
                  </a:extLst>
                </p:cNvPr>
                <p:cNvSpPr/>
                <p:nvPr/>
              </p:nvSpPr>
              <p:spPr>
                <a:xfrm>
                  <a:off x="8193401" y="2663554"/>
                  <a:ext cx="2204514" cy="2279295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lIns="72000" rIns="72000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依据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安全管控目标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实现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落地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建设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安全运营团队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、细化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安全运营流程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、构建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安全运营支撑一体化平台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  <a:endParaRPr lang="en-US" altLang="zh-CN" sz="12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建设中心级安全运营中心、下属重点单位运营体系和运营体系。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中心总部和下属单位安全运营体系对接，实现信息共享、指挥协同、预警通报、防御联动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最终实现中心和行业</a:t>
                  </a:r>
                  <a:r>
                    <a:rPr lang="zh-CN" altLang="en-US" sz="1200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安全运营一体化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目标</a:t>
                  </a:r>
                </a:p>
              </p:txBody>
            </p:sp>
          </p:grpSp>
          <p:sp>
            <p:nvSpPr>
              <p:cNvPr id="201" name="等腰三角形 200">
                <a:extLst>
                  <a:ext uri="{FF2B5EF4-FFF2-40B4-BE49-F238E27FC236}">
                    <a16:creationId xmlns:a16="http://schemas.microsoft.com/office/drawing/2014/main" id="{56B26A03-2594-491E-8B2D-E05BE770D0E1}"/>
                  </a:ext>
                </a:extLst>
              </p:cNvPr>
              <p:cNvSpPr/>
              <p:nvPr/>
            </p:nvSpPr>
            <p:spPr>
              <a:xfrm>
                <a:off x="2063552" y="742896"/>
                <a:ext cx="8277810" cy="968559"/>
              </a:xfrm>
              <a:prstGeom prst="triangle">
                <a:avLst>
                  <a:gd name="adj" fmla="val 51334"/>
                </a:avLst>
              </a:prstGeom>
              <a:solidFill>
                <a:schemeClr val="bg1"/>
              </a:solidFill>
              <a:ln w="19050">
                <a:solidFill>
                  <a:srgbClr val="4F81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0" bIns="720000" rtlCol="0" anchor="ctr" anchorCtr="0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中心</a:t>
                </a:r>
                <a:endPara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网络安全保障体系一体化顶层规划</a:t>
                </a:r>
              </a:p>
            </p:txBody>
          </p:sp>
          <p:sp>
            <p:nvSpPr>
              <p:cNvPr id="202" name="下箭头 201"/>
              <p:cNvSpPr/>
              <p:nvPr/>
            </p:nvSpPr>
            <p:spPr>
              <a:xfrm>
                <a:off x="1240696" y="1744003"/>
                <a:ext cx="708580" cy="4977473"/>
              </a:xfrm>
              <a:prstGeom prst="downArrow">
                <a:avLst/>
              </a:prstGeom>
              <a:solidFill>
                <a:srgbClr val="4F81BD"/>
              </a:solidFill>
              <a:ln>
                <a:solidFill>
                  <a:srgbClr val="4F81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三大体系纵向贯穿</a:t>
                </a:r>
              </a:p>
            </p:txBody>
          </p:sp>
          <p:sp>
            <p:nvSpPr>
              <p:cNvPr id="203" name="下箭头 202"/>
              <p:cNvSpPr/>
              <p:nvPr/>
            </p:nvSpPr>
            <p:spPr>
              <a:xfrm>
                <a:off x="10475493" y="1744003"/>
                <a:ext cx="708580" cy="4968841"/>
              </a:xfrm>
              <a:prstGeom prst="downArrow">
                <a:avLst/>
              </a:prstGeom>
              <a:solidFill>
                <a:srgbClr val="4F81BD"/>
              </a:solidFill>
              <a:ln>
                <a:solidFill>
                  <a:srgbClr val="4F81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平战结合</a:t>
                </a: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1E6BF36-3B50-4598-8A78-780BB8153194}"/>
              </a:ext>
            </a:extLst>
          </p:cNvPr>
          <p:cNvSpPr txBox="1">
            <a:spLocks/>
          </p:cNvSpPr>
          <p:nvPr/>
        </p:nvSpPr>
        <p:spPr>
          <a:xfrm>
            <a:off x="335360" y="147891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总体</a:t>
            </a:r>
            <a:r>
              <a:rPr kumimoji="1" lang="zh-CN" altLang="en-US" sz="2800" b="1" dirty="0">
                <a:solidFill>
                  <a:srgbClr val="FFFF00"/>
                </a:solidFill>
              </a:rPr>
              <a:t>规划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</a:rPr>
              <a:t>思路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700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图: 手动输入 12"/>
          <p:cNvSpPr/>
          <p:nvPr/>
        </p:nvSpPr>
        <p:spPr>
          <a:xfrm rot="16200000">
            <a:off x="6804061" y="1018391"/>
            <a:ext cx="3250767" cy="6134310"/>
          </a:xfrm>
          <a:prstGeom prst="flowChartManualInpu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39000">
                <a:schemeClr val="bg1">
                  <a:lumMod val="85000"/>
                </a:schemeClr>
              </a:gs>
              <a:gs pos="95000">
                <a:schemeClr val="dk1">
                  <a:tint val="15000"/>
                  <a:satMod val="3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梯形 5">
            <a:extLst>
              <a:ext uri="{FF2B5EF4-FFF2-40B4-BE49-F238E27FC236}">
                <a16:creationId xmlns:a16="http://schemas.microsoft.com/office/drawing/2014/main" id="{71599FD8-3E13-4803-AE5B-6F72ECC80D8D}"/>
              </a:ext>
            </a:extLst>
          </p:cNvPr>
          <p:cNvSpPr/>
          <p:nvPr/>
        </p:nvSpPr>
        <p:spPr>
          <a:xfrm rot="15056224">
            <a:off x="3186244" y="3307797"/>
            <a:ext cx="3496416" cy="2206401"/>
          </a:xfrm>
          <a:prstGeom prst="trapezoid">
            <a:avLst>
              <a:gd name="adj" fmla="val 22546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39000">
                <a:schemeClr val="bg1">
                  <a:lumMod val="85000"/>
                </a:schemeClr>
              </a:gs>
              <a:gs pos="95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7328" y="1233907"/>
            <a:ext cx="6080987" cy="6011517"/>
            <a:chOff x="335360" y="1052736"/>
            <a:chExt cx="6080987" cy="6155533"/>
          </a:xfrm>
        </p:grpSpPr>
        <p:sp>
          <p:nvSpPr>
            <p:cNvPr id="7" name="矩形 6"/>
            <p:cNvSpPr/>
            <p:nvPr/>
          </p:nvSpPr>
          <p:spPr>
            <a:xfrm>
              <a:off x="335360" y="1052736"/>
              <a:ext cx="6080987" cy="6155533"/>
            </a:xfrm>
            <a:prstGeom prst="rect">
              <a:avLst/>
            </a:prstGeom>
            <a:noFill/>
          </p:spPr>
        </p:sp>
        <p:sp>
          <p:nvSpPr>
            <p:cNvPr id="8" name="任意多边形 7"/>
            <p:cNvSpPr/>
            <p:nvPr/>
          </p:nvSpPr>
          <p:spPr>
            <a:xfrm>
              <a:off x="4128254" y="1225408"/>
              <a:ext cx="2152693" cy="2152693"/>
            </a:xfrm>
            <a:custGeom>
              <a:avLst/>
              <a:gdLst>
                <a:gd name="connsiteX0" fmla="*/ 0 w 2152693"/>
                <a:gd name="connsiteY0" fmla="*/ 0 h 2152693"/>
                <a:gd name="connsiteX1" fmla="*/ 2152693 w 2152693"/>
                <a:gd name="connsiteY1" fmla="*/ 0 h 2152693"/>
                <a:gd name="connsiteX2" fmla="*/ 2152693 w 2152693"/>
                <a:gd name="connsiteY2" fmla="*/ 2152693 h 2152693"/>
                <a:gd name="connsiteX3" fmla="*/ 0 w 2152693"/>
                <a:gd name="connsiteY3" fmla="*/ 2152693 h 2152693"/>
                <a:gd name="connsiteX4" fmla="*/ 0 w 2152693"/>
                <a:gd name="connsiteY4" fmla="*/ 0 h 215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2693" h="2152693">
                  <a:moveTo>
                    <a:pt x="0" y="0"/>
                  </a:moveTo>
                  <a:lnTo>
                    <a:pt x="2152693" y="0"/>
                  </a:lnTo>
                  <a:lnTo>
                    <a:pt x="2152693" y="2152693"/>
                  </a:lnTo>
                  <a:lnTo>
                    <a:pt x="0" y="21526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</a:t>
              </a:r>
            </a:p>
          </p:txBody>
        </p:sp>
        <p:sp>
          <p:nvSpPr>
            <p:cNvPr id="9" name="环形箭头 8"/>
            <p:cNvSpPr/>
            <p:nvPr/>
          </p:nvSpPr>
          <p:spPr>
            <a:xfrm>
              <a:off x="1232741" y="1089506"/>
              <a:ext cx="4287196" cy="6081992"/>
            </a:xfrm>
            <a:prstGeom prst="circularArrow">
              <a:avLst>
                <a:gd name="adj1" fmla="val 6902"/>
                <a:gd name="adj2" fmla="val 465342"/>
                <a:gd name="adj3" fmla="val 549458"/>
                <a:gd name="adj4" fmla="val 20585200"/>
                <a:gd name="adj5" fmla="val 8052"/>
              </a:avLst>
            </a:prstGeom>
            <a:solidFill>
              <a:srgbClr val="4F81BD"/>
            </a:solidFill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任意多边形 17"/>
            <p:cNvSpPr/>
            <p:nvPr/>
          </p:nvSpPr>
          <p:spPr>
            <a:xfrm>
              <a:off x="4128254" y="4882903"/>
              <a:ext cx="2152693" cy="2152693"/>
            </a:xfrm>
            <a:custGeom>
              <a:avLst/>
              <a:gdLst>
                <a:gd name="connsiteX0" fmla="*/ 0 w 2152693"/>
                <a:gd name="connsiteY0" fmla="*/ 0 h 2152693"/>
                <a:gd name="connsiteX1" fmla="*/ 2152693 w 2152693"/>
                <a:gd name="connsiteY1" fmla="*/ 0 h 2152693"/>
                <a:gd name="connsiteX2" fmla="*/ 2152693 w 2152693"/>
                <a:gd name="connsiteY2" fmla="*/ 2152693 h 2152693"/>
                <a:gd name="connsiteX3" fmla="*/ 0 w 2152693"/>
                <a:gd name="connsiteY3" fmla="*/ 2152693 h 2152693"/>
                <a:gd name="connsiteX4" fmla="*/ 0 w 2152693"/>
                <a:gd name="connsiteY4" fmla="*/ 0 h 215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2693" h="2152693">
                  <a:moveTo>
                    <a:pt x="0" y="0"/>
                  </a:moveTo>
                  <a:lnTo>
                    <a:pt x="2152693" y="0"/>
                  </a:lnTo>
                  <a:lnTo>
                    <a:pt x="2152693" y="2152693"/>
                  </a:lnTo>
                  <a:lnTo>
                    <a:pt x="0" y="21526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建设</a:t>
              </a:r>
            </a:p>
          </p:txBody>
        </p:sp>
        <p:sp>
          <p:nvSpPr>
            <p:cNvPr id="19" name="环形箭头 18"/>
            <p:cNvSpPr/>
            <p:nvPr/>
          </p:nvSpPr>
          <p:spPr>
            <a:xfrm>
              <a:off x="1343464" y="2699166"/>
              <a:ext cx="4064778" cy="4237080"/>
            </a:xfrm>
            <a:prstGeom prst="circularArrow">
              <a:avLst>
                <a:gd name="adj1" fmla="val 6902"/>
                <a:gd name="adj2" fmla="val 465342"/>
                <a:gd name="adj3" fmla="val 5949458"/>
                <a:gd name="adj4" fmla="val 4385200"/>
                <a:gd name="adj5" fmla="val 8052"/>
              </a:avLst>
            </a:prstGeom>
            <a:solidFill>
              <a:srgbClr val="4F81BD"/>
            </a:solidFill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任意多边形 20"/>
            <p:cNvSpPr/>
            <p:nvPr/>
          </p:nvSpPr>
          <p:spPr>
            <a:xfrm>
              <a:off x="470759" y="4882903"/>
              <a:ext cx="2152693" cy="2152693"/>
            </a:xfrm>
            <a:custGeom>
              <a:avLst/>
              <a:gdLst>
                <a:gd name="connsiteX0" fmla="*/ 0 w 2152693"/>
                <a:gd name="connsiteY0" fmla="*/ 0 h 2152693"/>
                <a:gd name="connsiteX1" fmla="*/ 2152693 w 2152693"/>
                <a:gd name="connsiteY1" fmla="*/ 0 h 2152693"/>
                <a:gd name="connsiteX2" fmla="*/ 2152693 w 2152693"/>
                <a:gd name="connsiteY2" fmla="*/ 2152693 h 2152693"/>
                <a:gd name="connsiteX3" fmla="*/ 0 w 2152693"/>
                <a:gd name="connsiteY3" fmla="*/ 2152693 h 2152693"/>
                <a:gd name="connsiteX4" fmla="*/ 0 w 2152693"/>
                <a:gd name="connsiteY4" fmla="*/ 0 h 215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2693" h="2152693">
                  <a:moveTo>
                    <a:pt x="0" y="0"/>
                  </a:moveTo>
                  <a:lnTo>
                    <a:pt x="2152693" y="0"/>
                  </a:lnTo>
                  <a:lnTo>
                    <a:pt x="2152693" y="2152693"/>
                  </a:lnTo>
                  <a:lnTo>
                    <a:pt x="0" y="21526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</a:t>
              </a:r>
            </a:p>
          </p:txBody>
        </p:sp>
        <p:sp>
          <p:nvSpPr>
            <p:cNvPr id="22" name="环形箭头 21"/>
            <p:cNvSpPr/>
            <p:nvPr/>
          </p:nvSpPr>
          <p:spPr>
            <a:xfrm>
              <a:off x="1062445" y="1124599"/>
              <a:ext cx="4339866" cy="6011806"/>
            </a:xfrm>
            <a:prstGeom prst="circularArrow">
              <a:avLst>
                <a:gd name="adj1" fmla="val 6902"/>
                <a:gd name="adj2" fmla="val 465342"/>
                <a:gd name="adj3" fmla="val 11349458"/>
                <a:gd name="adj4" fmla="val 9785200"/>
                <a:gd name="adj5" fmla="val 8052"/>
              </a:avLst>
            </a:prstGeom>
            <a:solidFill>
              <a:srgbClr val="4F81BD"/>
            </a:solidFill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任意多边形 22"/>
            <p:cNvSpPr/>
            <p:nvPr/>
          </p:nvSpPr>
          <p:spPr>
            <a:xfrm>
              <a:off x="470759" y="1225408"/>
              <a:ext cx="2152693" cy="2152693"/>
            </a:xfrm>
            <a:custGeom>
              <a:avLst/>
              <a:gdLst>
                <a:gd name="connsiteX0" fmla="*/ 0 w 2152693"/>
                <a:gd name="connsiteY0" fmla="*/ 0 h 2152693"/>
                <a:gd name="connsiteX1" fmla="*/ 2152693 w 2152693"/>
                <a:gd name="connsiteY1" fmla="*/ 0 h 2152693"/>
                <a:gd name="connsiteX2" fmla="*/ 2152693 w 2152693"/>
                <a:gd name="connsiteY2" fmla="*/ 2152693 h 2152693"/>
                <a:gd name="connsiteX3" fmla="*/ 0 w 2152693"/>
                <a:gd name="connsiteY3" fmla="*/ 2152693 h 2152693"/>
                <a:gd name="connsiteX4" fmla="*/ 0 w 2152693"/>
                <a:gd name="connsiteY4" fmla="*/ 0 h 215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2693" h="2152693">
                  <a:moveTo>
                    <a:pt x="0" y="0"/>
                  </a:moveTo>
                  <a:lnTo>
                    <a:pt x="2152693" y="0"/>
                  </a:lnTo>
                  <a:lnTo>
                    <a:pt x="2152693" y="2152693"/>
                  </a:lnTo>
                  <a:lnTo>
                    <a:pt x="0" y="215269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</a:p>
          </p:txBody>
        </p:sp>
        <p:sp>
          <p:nvSpPr>
            <p:cNvPr id="24" name="环形箭头 23"/>
            <p:cNvSpPr/>
            <p:nvPr/>
          </p:nvSpPr>
          <p:spPr>
            <a:xfrm>
              <a:off x="1303779" y="1403002"/>
              <a:ext cx="4144148" cy="4373743"/>
            </a:xfrm>
            <a:prstGeom prst="circularArrow">
              <a:avLst>
                <a:gd name="adj1" fmla="val 6902"/>
                <a:gd name="adj2" fmla="val 465342"/>
                <a:gd name="adj3" fmla="val 16749458"/>
                <a:gd name="adj4" fmla="val 15185200"/>
                <a:gd name="adj5" fmla="val 8052"/>
              </a:avLst>
            </a:prstGeom>
            <a:solidFill>
              <a:srgbClr val="4F81BD"/>
            </a:solidFill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20" name="标题 1"/>
          <p:cNvSpPr txBox="1">
            <a:spLocks/>
          </p:cNvSpPr>
          <p:nvPr/>
        </p:nvSpPr>
        <p:spPr>
          <a:xfrm>
            <a:off x="480000" y="164637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algn="l" fontAlgn="auto"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FFFF00"/>
                </a:solidFill>
              </a:rPr>
              <a:t>总体规划一体化落地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2841E33-5B79-4D20-8320-D19CDF9B5D7F}"/>
              </a:ext>
            </a:extLst>
          </p:cNvPr>
          <p:cNvSpPr/>
          <p:nvPr/>
        </p:nvSpPr>
        <p:spPr>
          <a:xfrm>
            <a:off x="480000" y="843910"/>
            <a:ext cx="11160617" cy="830997"/>
          </a:xfrm>
          <a:prstGeom prst="rect">
            <a:avLst/>
          </a:prstGeom>
          <a:ln w="28575">
            <a:solidFill>
              <a:srgbClr val="4F81BD"/>
            </a:solidFill>
          </a:ln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明确总体目标，参考最佳实践方法论，确定总体框架及思路，将管控要求和技术实现通过日常运营（平战结合）进行一体化落地。通过三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年内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的不断努力实现风险治理、安全可控，网络安全实力整体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提升到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967CBC5-8BF4-4658-A1AC-654756F7E1C5}"/>
              </a:ext>
            </a:extLst>
          </p:cNvPr>
          <p:cNvCxnSpPr>
            <a:cxnSpLocks/>
          </p:cNvCxnSpPr>
          <p:nvPr/>
        </p:nvCxnSpPr>
        <p:spPr>
          <a:xfrm>
            <a:off x="5362290" y="2420096"/>
            <a:ext cx="1127694" cy="3337751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H_Other_1">
            <a:extLst>
              <a:ext uri="{FF2B5EF4-FFF2-40B4-BE49-F238E27FC236}">
                <a16:creationId xmlns:a16="http://schemas.microsoft.com/office/drawing/2014/main" id="{E482F673-10DC-426D-9BB7-CF12E754B7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29774" y="2885634"/>
            <a:ext cx="219379" cy="22665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endParaRPr lang="zh-CN" altLang="en-US" sz="14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28" name="MH_Other_2">
            <a:extLst>
              <a:ext uri="{FF2B5EF4-FFF2-40B4-BE49-F238E27FC236}">
                <a16:creationId xmlns:a16="http://schemas.microsoft.com/office/drawing/2014/main" id="{E169F31E-DAEF-4889-8FF6-D3CE1C48242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27533" y="2634927"/>
            <a:ext cx="677285" cy="69973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FF"/>
                </a:solidFill>
                <a:ea typeface="微软雅黑" panose="020B0503020204020204" pitchFamily="34" charset="-122"/>
                <a:cs typeface="Aharoni" panose="020B0604020202020204" pitchFamily="2" charset="-79"/>
              </a:rPr>
              <a:t>管理</a:t>
            </a:r>
          </a:p>
        </p:txBody>
      </p:sp>
      <p:sp>
        <p:nvSpPr>
          <p:cNvPr id="29" name="MH_Other_3">
            <a:extLst>
              <a:ext uri="{FF2B5EF4-FFF2-40B4-BE49-F238E27FC236}">
                <a16:creationId xmlns:a16="http://schemas.microsoft.com/office/drawing/2014/main" id="{1050CA65-9A0F-4106-B2F6-6A08CF053995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57597" y="2877908"/>
            <a:ext cx="206914" cy="243392"/>
          </a:xfrm>
          <a:custGeom>
            <a:avLst/>
            <a:gdLst>
              <a:gd name="T0" fmla="*/ 2147483646 w 3678"/>
              <a:gd name="T1" fmla="*/ 2147483646 h 4197"/>
              <a:gd name="T2" fmla="*/ 2147483646 w 3678"/>
              <a:gd name="T3" fmla="*/ 2147483646 h 4197"/>
              <a:gd name="T4" fmla="*/ 2147483646 w 3678"/>
              <a:gd name="T5" fmla="*/ 2147483646 h 4197"/>
              <a:gd name="T6" fmla="*/ 2147483646 w 3678"/>
              <a:gd name="T7" fmla="*/ 2147483646 h 4197"/>
              <a:gd name="T8" fmla="*/ 2147483646 w 3678"/>
              <a:gd name="T9" fmla="*/ 2147483646 h 4197"/>
              <a:gd name="T10" fmla="*/ 2147483646 w 3678"/>
              <a:gd name="T11" fmla="*/ 2147483646 h 4197"/>
              <a:gd name="T12" fmla="*/ 2147483646 w 3678"/>
              <a:gd name="T13" fmla="*/ 2147483646 h 4197"/>
              <a:gd name="T14" fmla="*/ 2147483646 w 3678"/>
              <a:gd name="T15" fmla="*/ 2147483646 h 4197"/>
              <a:gd name="T16" fmla="*/ 2147483646 w 3678"/>
              <a:gd name="T17" fmla="*/ 2147483646 h 4197"/>
              <a:gd name="T18" fmla="*/ 2147483646 w 3678"/>
              <a:gd name="T19" fmla="*/ 2147483646 h 4197"/>
              <a:gd name="T20" fmla="*/ 2147483646 w 3678"/>
              <a:gd name="T21" fmla="*/ 2147483646 h 4197"/>
              <a:gd name="T22" fmla="*/ 2147483646 w 3678"/>
              <a:gd name="T23" fmla="*/ 2147483646 h 419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78" h="4197">
                <a:moveTo>
                  <a:pt x="2081" y="2099"/>
                </a:moveTo>
                <a:lnTo>
                  <a:pt x="0" y="0"/>
                </a:lnTo>
                <a:lnTo>
                  <a:pt x="762" y="2099"/>
                </a:lnTo>
                <a:lnTo>
                  <a:pt x="0" y="4197"/>
                </a:lnTo>
                <a:lnTo>
                  <a:pt x="2081" y="2099"/>
                </a:lnTo>
                <a:close/>
                <a:moveTo>
                  <a:pt x="3678" y="2099"/>
                </a:moveTo>
                <a:lnTo>
                  <a:pt x="1597" y="0"/>
                </a:lnTo>
                <a:lnTo>
                  <a:pt x="2359" y="2099"/>
                </a:lnTo>
                <a:lnTo>
                  <a:pt x="1597" y="4197"/>
                </a:lnTo>
                <a:lnTo>
                  <a:pt x="3678" y="20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30" name="MH_Text_1">
            <a:extLst>
              <a:ext uri="{FF2B5EF4-FFF2-40B4-BE49-F238E27FC236}">
                <a16:creationId xmlns:a16="http://schemas.microsoft.com/office/drawing/2014/main" id="{03843802-3261-4F4A-9AFB-FF904A65F57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436523" y="3056529"/>
            <a:ext cx="3834150" cy="48163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just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安全运营体系可贯彻落实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安全管理体系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相关要求</a:t>
            </a:r>
          </a:p>
        </p:txBody>
      </p:sp>
      <p:sp>
        <p:nvSpPr>
          <p:cNvPr id="31" name="MH_SubTitle_1">
            <a:extLst>
              <a:ext uri="{FF2B5EF4-FFF2-40B4-BE49-F238E27FC236}">
                <a16:creationId xmlns:a16="http://schemas.microsoft.com/office/drawing/2014/main" id="{DFB0D5E8-1960-48BA-B782-92792F771A7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36523" y="2546945"/>
            <a:ext cx="3834150" cy="437849"/>
          </a:xfrm>
          <a:prstGeom prst="rect">
            <a:avLst/>
          </a:prstGeom>
        </p:spPr>
        <p:txBody>
          <a:bodyPr lIns="0" tIns="0" rIns="0" bIns="0" anchor="b">
            <a:normAutofit fontScale="925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rgbClr val="376092"/>
                </a:solidFill>
                <a:latin typeface="+mn-lt"/>
                <a:ea typeface="微软雅黑" panose="020B0503020204020204" pitchFamily="34" charset="-122"/>
                <a:cs typeface="宋体" panose="02010600030101010101" pitchFamily="2" charset="-122"/>
              </a:rPr>
              <a:t>落实</a:t>
            </a:r>
            <a:r>
              <a:rPr lang="zh-CN" altLang="en-US" sz="1600" b="1" kern="0" dirty="0">
                <a:solidFill>
                  <a:srgbClr val="37609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管理制度、优化</a:t>
            </a:r>
            <a:r>
              <a:rPr lang="zh-CN" altLang="en-US" sz="1600" b="1" kern="0" dirty="0">
                <a:solidFill>
                  <a:srgbClr val="376092"/>
                </a:solidFill>
                <a:latin typeface="+mn-lt"/>
                <a:ea typeface="微软雅黑" panose="020B0503020204020204" pitchFamily="34" charset="-122"/>
                <a:cs typeface="宋体" panose="02010600030101010101" pitchFamily="2" charset="-122"/>
              </a:rPr>
              <a:t>管理组织、强化</a:t>
            </a:r>
            <a:r>
              <a:rPr lang="zh-CN" altLang="en-US" sz="1600" b="1" kern="0" dirty="0">
                <a:solidFill>
                  <a:srgbClr val="37609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管理</a:t>
            </a:r>
            <a:r>
              <a:rPr lang="zh-CN" altLang="en-US" sz="1600" b="1" kern="0" dirty="0">
                <a:solidFill>
                  <a:srgbClr val="376092"/>
                </a:solidFill>
                <a:latin typeface="+mn-lt"/>
                <a:ea typeface="微软雅黑" panose="020B0503020204020204" pitchFamily="34" charset="-122"/>
                <a:cs typeface="宋体" panose="02010600030101010101" pitchFamily="2" charset="-122"/>
              </a:rPr>
              <a:t>考核</a:t>
            </a:r>
            <a:endParaRPr lang="zh-CN" altLang="en-US" sz="1600" b="1" dirty="0">
              <a:solidFill>
                <a:srgbClr val="376092"/>
              </a:solidFill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32" name="MH_Other_4">
            <a:extLst>
              <a:ext uri="{FF2B5EF4-FFF2-40B4-BE49-F238E27FC236}">
                <a16:creationId xmlns:a16="http://schemas.microsoft.com/office/drawing/2014/main" id="{ADE950F5-5FC0-422D-8732-3E3DDEE60601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415335" y="2998960"/>
            <a:ext cx="379879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MH_Other_5">
            <a:extLst>
              <a:ext uri="{FF2B5EF4-FFF2-40B4-BE49-F238E27FC236}">
                <a16:creationId xmlns:a16="http://schemas.microsoft.com/office/drawing/2014/main" id="{28A4F431-1BB9-404C-9BEE-096CCA36B9F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87142" y="3885200"/>
            <a:ext cx="219379" cy="22665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endParaRPr lang="zh-CN" altLang="en-US" sz="14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4" name="MH_Other_6">
            <a:extLst>
              <a:ext uri="{FF2B5EF4-FFF2-40B4-BE49-F238E27FC236}">
                <a16:creationId xmlns:a16="http://schemas.microsoft.com/office/drawing/2014/main" id="{1181C30D-6A72-45F3-B1AE-CD1BF7073D9E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79846" y="3660249"/>
            <a:ext cx="677285" cy="69973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FF"/>
                </a:solidFill>
                <a:ea typeface="微软雅黑" panose="020B0503020204020204" pitchFamily="34" charset="-122"/>
                <a:cs typeface="Aharoni" panose="020B0604020202020204" pitchFamily="2" charset="-79"/>
              </a:rPr>
              <a:t>运营</a:t>
            </a:r>
          </a:p>
        </p:txBody>
      </p:sp>
      <p:sp>
        <p:nvSpPr>
          <p:cNvPr id="35" name="MH_Other_7">
            <a:extLst>
              <a:ext uri="{FF2B5EF4-FFF2-40B4-BE49-F238E27FC236}">
                <a16:creationId xmlns:a16="http://schemas.microsoft.com/office/drawing/2014/main" id="{BBF116CD-C77F-4927-AE1C-BF9BC5871B0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514965" y="3876187"/>
            <a:ext cx="206914" cy="244680"/>
          </a:xfrm>
          <a:custGeom>
            <a:avLst/>
            <a:gdLst>
              <a:gd name="T0" fmla="*/ 2147483646 w 3678"/>
              <a:gd name="T1" fmla="*/ 2147483646 h 4197"/>
              <a:gd name="T2" fmla="*/ 2147483646 w 3678"/>
              <a:gd name="T3" fmla="*/ 2147483646 h 4197"/>
              <a:gd name="T4" fmla="*/ 2147483646 w 3678"/>
              <a:gd name="T5" fmla="*/ 2147483646 h 4197"/>
              <a:gd name="T6" fmla="*/ 2147483646 w 3678"/>
              <a:gd name="T7" fmla="*/ 2147483646 h 4197"/>
              <a:gd name="T8" fmla="*/ 2147483646 w 3678"/>
              <a:gd name="T9" fmla="*/ 2147483646 h 4197"/>
              <a:gd name="T10" fmla="*/ 2147483646 w 3678"/>
              <a:gd name="T11" fmla="*/ 2147483646 h 4197"/>
              <a:gd name="T12" fmla="*/ 2147483646 w 3678"/>
              <a:gd name="T13" fmla="*/ 2147483646 h 4197"/>
              <a:gd name="T14" fmla="*/ 2147483646 w 3678"/>
              <a:gd name="T15" fmla="*/ 2147483646 h 4197"/>
              <a:gd name="T16" fmla="*/ 2147483646 w 3678"/>
              <a:gd name="T17" fmla="*/ 2147483646 h 4197"/>
              <a:gd name="T18" fmla="*/ 2147483646 w 3678"/>
              <a:gd name="T19" fmla="*/ 2147483646 h 4197"/>
              <a:gd name="T20" fmla="*/ 2147483646 w 3678"/>
              <a:gd name="T21" fmla="*/ 2147483646 h 4197"/>
              <a:gd name="T22" fmla="*/ 2147483646 w 3678"/>
              <a:gd name="T23" fmla="*/ 2147483646 h 419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78" h="4197">
                <a:moveTo>
                  <a:pt x="2081" y="2099"/>
                </a:moveTo>
                <a:lnTo>
                  <a:pt x="0" y="0"/>
                </a:lnTo>
                <a:lnTo>
                  <a:pt x="762" y="2099"/>
                </a:lnTo>
                <a:lnTo>
                  <a:pt x="0" y="4197"/>
                </a:lnTo>
                <a:lnTo>
                  <a:pt x="2081" y="2099"/>
                </a:lnTo>
                <a:close/>
                <a:moveTo>
                  <a:pt x="3678" y="2099"/>
                </a:moveTo>
                <a:lnTo>
                  <a:pt x="1597" y="0"/>
                </a:lnTo>
                <a:lnTo>
                  <a:pt x="2359" y="2099"/>
                </a:lnTo>
                <a:lnTo>
                  <a:pt x="1597" y="4197"/>
                </a:lnTo>
                <a:lnTo>
                  <a:pt x="3678" y="20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36" name="MH_Text_2">
            <a:extLst>
              <a:ext uri="{FF2B5EF4-FFF2-40B4-BE49-F238E27FC236}">
                <a16:creationId xmlns:a16="http://schemas.microsoft.com/office/drawing/2014/main" id="{A1F90BDE-1432-4466-B367-3F6263682DE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893891" y="3715025"/>
            <a:ext cx="3953188" cy="48163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just" eaLnBrk="1" fontAlgn="auto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安全运营体系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通过将管理、技术协同运营一体化，实现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集中管控、统一调度、精益管理和高效运作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的目的，达到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安全可靠性更高、安全业务内涵更广、安全事件响应速度更快、安全服务质量更优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的效果</a:t>
            </a:r>
          </a:p>
        </p:txBody>
      </p:sp>
      <p:sp>
        <p:nvSpPr>
          <p:cNvPr id="37" name="MH_SubTitle_2">
            <a:extLst>
              <a:ext uri="{FF2B5EF4-FFF2-40B4-BE49-F238E27FC236}">
                <a16:creationId xmlns:a16="http://schemas.microsoft.com/office/drawing/2014/main" id="{903C83ED-DD4C-4E77-8D9C-A4441990B77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893891" y="3250131"/>
            <a:ext cx="3953187" cy="437849"/>
          </a:xfrm>
          <a:prstGeom prst="rect">
            <a:avLst/>
          </a:prstGeom>
        </p:spPr>
        <p:txBody>
          <a:bodyPr lIns="0" tIns="0" rIns="0" bIns="0" anchor="b">
            <a:normAutofit fontScale="925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rgbClr val="376092"/>
                </a:solidFill>
                <a:latin typeface="+mn-lt"/>
                <a:ea typeface="微软雅黑" panose="020B0503020204020204" pitchFamily="34" charset="-122"/>
                <a:cs typeface="宋体" panose="02010600030101010101" pitchFamily="2" charset="-122"/>
              </a:rPr>
              <a:t>组建运营团队、制定</a:t>
            </a:r>
            <a:r>
              <a:rPr lang="zh-CN" altLang="en-US" sz="1600" b="1" kern="0" dirty="0">
                <a:solidFill>
                  <a:srgbClr val="37609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运营</a:t>
            </a:r>
            <a:r>
              <a:rPr lang="zh-CN" altLang="en-US" sz="1600" b="1" kern="0" dirty="0">
                <a:solidFill>
                  <a:srgbClr val="376092"/>
                </a:solidFill>
                <a:latin typeface="+mn-lt"/>
                <a:ea typeface="微软雅黑" panose="020B0503020204020204" pitchFamily="34" charset="-122"/>
                <a:cs typeface="宋体" panose="02010600030101010101" pitchFamily="2" charset="-122"/>
              </a:rPr>
              <a:t>流程、搭建</a:t>
            </a:r>
            <a:r>
              <a:rPr lang="zh-CN" altLang="en-US" sz="1600" b="1" kern="0" dirty="0">
                <a:solidFill>
                  <a:srgbClr val="37609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运营</a:t>
            </a:r>
            <a:r>
              <a:rPr lang="zh-CN" altLang="en-US" sz="1600" b="1" kern="0" dirty="0">
                <a:solidFill>
                  <a:srgbClr val="376092"/>
                </a:solidFill>
                <a:latin typeface="+mn-lt"/>
                <a:ea typeface="微软雅黑" panose="020B0503020204020204" pitchFamily="34" charset="-122"/>
                <a:cs typeface="宋体" panose="02010600030101010101" pitchFamily="2" charset="-122"/>
              </a:rPr>
              <a:t>平台</a:t>
            </a:r>
            <a:endParaRPr lang="zh-CN" altLang="en-US" sz="1600" b="1" dirty="0">
              <a:solidFill>
                <a:srgbClr val="376092"/>
              </a:solidFill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38" name="MH_Other_8">
            <a:extLst>
              <a:ext uri="{FF2B5EF4-FFF2-40B4-BE49-F238E27FC236}">
                <a16:creationId xmlns:a16="http://schemas.microsoft.com/office/drawing/2014/main" id="{3E3007D0-119F-416E-A1F8-FC98FFCEC706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6872702" y="3703433"/>
            <a:ext cx="383181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H_Other_9">
            <a:extLst>
              <a:ext uri="{FF2B5EF4-FFF2-40B4-BE49-F238E27FC236}">
                <a16:creationId xmlns:a16="http://schemas.microsoft.com/office/drawing/2014/main" id="{2D1FCB91-1A1F-4DF5-B4C8-483E5EBC37F4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629633" y="5234581"/>
            <a:ext cx="219379" cy="22665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endParaRPr lang="zh-CN" altLang="en-US" sz="14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MH_Other_10">
            <a:extLst>
              <a:ext uri="{FF2B5EF4-FFF2-40B4-BE49-F238E27FC236}">
                <a16:creationId xmlns:a16="http://schemas.microsoft.com/office/drawing/2014/main" id="{C384E6C2-97C2-4003-9D11-409B0BB18294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032160" y="5009723"/>
            <a:ext cx="677285" cy="70212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FF"/>
                </a:solidFill>
                <a:ea typeface="微软雅黑" panose="020B0503020204020204" pitchFamily="34" charset="-122"/>
                <a:cs typeface="Aharoni" panose="020B0604020202020204" pitchFamily="2" charset="-79"/>
              </a:rPr>
              <a:t>技术</a:t>
            </a:r>
          </a:p>
        </p:txBody>
      </p:sp>
      <p:sp>
        <p:nvSpPr>
          <p:cNvPr id="41" name="MH_Other_11">
            <a:extLst>
              <a:ext uri="{FF2B5EF4-FFF2-40B4-BE49-F238E27FC236}">
                <a16:creationId xmlns:a16="http://schemas.microsoft.com/office/drawing/2014/main" id="{E8C2B096-073E-4AF6-8D78-8192CACCD68F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6957456" y="5225568"/>
            <a:ext cx="206914" cy="244680"/>
          </a:xfrm>
          <a:custGeom>
            <a:avLst/>
            <a:gdLst>
              <a:gd name="T0" fmla="*/ 2147483646 w 3678"/>
              <a:gd name="T1" fmla="*/ 2147483646 h 4197"/>
              <a:gd name="T2" fmla="*/ 2147483646 w 3678"/>
              <a:gd name="T3" fmla="*/ 2147483646 h 4197"/>
              <a:gd name="T4" fmla="*/ 2147483646 w 3678"/>
              <a:gd name="T5" fmla="*/ 2147483646 h 4197"/>
              <a:gd name="T6" fmla="*/ 2147483646 w 3678"/>
              <a:gd name="T7" fmla="*/ 2147483646 h 4197"/>
              <a:gd name="T8" fmla="*/ 2147483646 w 3678"/>
              <a:gd name="T9" fmla="*/ 2147483646 h 4197"/>
              <a:gd name="T10" fmla="*/ 2147483646 w 3678"/>
              <a:gd name="T11" fmla="*/ 2147483646 h 4197"/>
              <a:gd name="T12" fmla="*/ 2147483646 w 3678"/>
              <a:gd name="T13" fmla="*/ 2147483646 h 4197"/>
              <a:gd name="T14" fmla="*/ 2147483646 w 3678"/>
              <a:gd name="T15" fmla="*/ 2147483646 h 4197"/>
              <a:gd name="T16" fmla="*/ 2147483646 w 3678"/>
              <a:gd name="T17" fmla="*/ 2147483646 h 4197"/>
              <a:gd name="T18" fmla="*/ 2147483646 w 3678"/>
              <a:gd name="T19" fmla="*/ 2147483646 h 4197"/>
              <a:gd name="T20" fmla="*/ 2147483646 w 3678"/>
              <a:gd name="T21" fmla="*/ 2147483646 h 4197"/>
              <a:gd name="T22" fmla="*/ 2147483646 w 3678"/>
              <a:gd name="T23" fmla="*/ 2147483646 h 419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78" h="4197">
                <a:moveTo>
                  <a:pt x="2081" y="2099"/>
                </a:moveTo>
                <a:lnTo>
                  <a:pt x="0" y="0"/>
                </a:lnTo>
                <a:lnTo>
                  <a:pt x="762" y="2099"/>
                </a:lnTo>
                <a:lnTo>
                  <a:pt x="0" y="4197"/>
                </a:lnTo>
                <a:lnTo>
                  <a:pt x="2081" y="2099"/>
                </a:lnTo>
                <a:close/>
                <a:moveTo>
                  <a:pt x="3678" y="2099"/>
                </a:moveTo>
                <a:lnTo>
                  <a:pt x="1597" y="0"/>
                </a:lnTo>
                <a:lnTo>
                  <a:pt x="2359" y="2099"/>
                </a:lnTo>
                <a:lnTo>
                  <a:pt x="1597" y="4197"/>
                </a:lnTo>
                <a:lnTo>
                  <a:pt x="3678" y="20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42" name="MH_Text_3">
            <a:extLst>
              <a:ext uri="{FF2B5EF4-FFF2-40B4-BE49-F238E27FC236}">
                <a16:creationId xmlns:a16="http://schemas.microsoft.com/office/drawing/2014/main" id="{158F7278-C2C3-422B-9F7B-CA5B3714C12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336382" y="5360785"/>
            <a:ext cx="3834150" cy="48163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安全运营体系可实践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安全技术体系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内容并发挥相关能力</a:t>
            </a:r>
          </a:p>
        </p:txBody>
      </p:sp>
      <p:sp>
        <p:nvSpPr>
          <p:cNvPr id="43" name="MH_SubTitle_3">
            <a:extLst>
              <a:ext uri="{FF2B5EF4-FFF2-40B4-BE49-F238E27FC236}">
                <a16:creationId xmlns:a16="http://schemas.microsoft.com/office/drawing/2014/main" id="{2C138137-15B5-4F04-A5E3-186B2E01078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336381" y="4894604"/>
            <a:ext cx="4074583" cy="439137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rgbClr val="37609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梳理保护措施、整合防护手段、构建能力</a:t>
            </a:r>
            <a:r>
              <a:rPr lang="en-US" altLang="zh-CN" sz="1600" b="1" kern="0" dirty="0">
                <a:solidFill>
                  <a:srgbClr val="37609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xxx</a:t>
            </a:r>
            <a:endParaRPr lang="zh-CN" altLang="en-US" sz="1600" b="1" dirty="0">
              <a:solidFill>
                <a:srgbClr val="376092"/>
              </a:solidFill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44" name="MH_Other_12">
            <a:extLst>
              <a:ext uri="{FF2B5EF4-FFF2-40B4-BE49-F238E27FC236}">
                <a16:creationId xmlns:a16="http://schemas.microsoft.com/office/drawing/2014/main" id="{61363992-0C14-4C8C-950A-F3F5D195F7FA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>
          <a:xfrm>
            <a:off x="7315194" y="5347906"/>
            <a:ext cx="409577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633D539-AEB3-437C-AB03-D5723FCED2B0}"/>
              </a:ext>
            </a:extLst>
          </p:cNvPr>
          <p:cNvSpPr/>
          <p:nvPr/>
        </p:nvSpPr>
        <p:spPr>
          <a:xfrm>
            <a:off x="5087888" y="1881979"/>
            <a:ext cx="60991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中心网络安全保障体系一体化落地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13BDB15-6B6F-4D15-B84D-B6C6C7CBB7F8}"/>
              </a:ext>
            </a:extLst>
          </p:cNvPr>
          <p:cNvCxnSpPr>
            <a:cxnSpLocks/>
          </p:cNvCxnSpPr>
          <p:nvPr/>
        </p:nvCxnSpPr>
        <p:spPr>
          <a:xfrm>
            <a:off x="5362290" y="2450716"/>
            <a:ext cx="613431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7929" y="2158160"/>
            <a:ext cx="2584928" cy="418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5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510F68-1432-4A06-BB9E-3AA11B75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C1031-165E-48F2-A7A4-E55D77A54FC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1E1E947-EBE9-4481-B902-3F0736CC7B30}"/>
              </a:ext>
            </a:extLst>
          </p:cNvPr>
          <p:cNvSpPr txBox="1">
            <a:spLocks/>
          </p:cNvSpPr>
          <p:nvPr/>
        </p:nvSpPr>
        <p:spPr>
          <a:xfrm>
            <a:off x="129872" y="69264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1C3208-8E34-4B4F-96CB-8061B332C22E}"/>
              </a:ext>
            </a:extLst>
          </p:cNvPr>
          <p:cNvSpPr txBox="1">
            <a:spLocks/>
          </p:cNvSpPr>
          <p:nvPr/>
        </p:nvSpPr>
        <p:spPr>
          <a:xfrm>
            <a:off x="8610600" y="6228035"/>
            <a:ext cx="2743200" cy="365125"/>
          </a:xfrm>
          <a:prstGeom prst="rect">
            <a:avLst/>
          </a:prstGeom>
        </p:spPr>
        <p:txBody>
          <a:bodyPr rIns="0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D06C1031-165E-48F2-A7A4-E55D77A54FC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4056A3C7-6C30-42A0-BFD5-775AF8639FE9}"/>
              </a:ext>
            </a:extLst>
          </p:cNvPr>
          <p:cNvSpPr/>
          <p:nvPr/>
        </p:nvSpPr>
        <p:spPr>
          <a:xfrm>
            <a:off x="309566" y="6117935"/>
            <a:ext cx="11536994" cy="570434"/>
          </a:xfrm>
          <a:prstGeom prst="trapezoid">
            <a:avLst>
              <a:gd name="adj" fmla="val 34924"/>
            </a:avLst>
          </a:prstGeom>
          <a:solidFill>
            <a:srgbClr val="9DB8DA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421453-8D30-4B4C-B91D-CCFD49789275}"/>
              </a:ext>
            </a:extLst>
          </p:cNvPr>
          <p:cNvSpPr/>
          <p:nvPr/>
        </p:nvSpPr>
        <p:spPr>
          <a:xfrm>
            <a:off x="2305775" y="6436322"/>
            <a:ext cx="1240789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云平台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641F74-6883-4F0F-8E14-4FB1AD333069}"/>
              </a:ext>
            </a:extLst>
          </p:cNvPr>
          <p:cNvSpPr/>
          <p:nvPr/>
        </p:nvSpPr>
        <p:spPr>
          <a:xfrm>
            <a:off x="5417511" y="6436322"/>
            <a:ext cx="1240789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数据资产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7261BF-4BFE-4F7A-80C5-2EED188A8099}"/>
              </a:ext>
            </a:extLst>
          </p:cNvPr>
          <p:cNvSpPr/>
          <p:nvPr/>
        </p:nvSpPr>
        <p:spPr>
          <a:xfrm>
            <a:off x="6973379" y="6436322"/>
            <a:ext cx="1240789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终端设备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C4DE34-763F-4EAD-AA7A-433C518880A7}"/>
              </a:ext>
            </a:extLst>
          </p:cNvPr>
          <p:cNvSpPr/>
          <p:nvPr/>
        </p:nvSpPr>
        <p:spPr>
          <a:xfrm>
            <a:off x="8529247" y="6436322"/>
            <a:ext cx="1240789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通信网络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D312B0-C25A-43A1-831D-CADA4A2A07D4}"/>
              </a:ext>
            </a:extLst>
          </p:cNvPr>
          <p:cNvSpPr/>
          <p:nvPr/>
        </p:nvSpPr>
        <p:spPr>
          <a:xfrm>
            <a:off x="10085113" y="6436322"/>
            <a:ext cx="1240789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工控系统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DD256-4B03-4EF1-B1D0-A8F68C076666}"/>
              </a:ext>
            </a:extLst>
          </p:cNvPr>
          <p:cNvSpPr/>
          <p:nvPr/>
        </p:nvSpPr>
        <p:spPr>
          <a:xfrm>
            <a:off x="811949" y="6436322"/>
            <a:ext cx="1178748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基础支撑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8D3D65-80B0-4CA9-A9D4-1D3FBDB1825E}"/>
              </a:ext>
            </a:extLst>
          </p:cNvPr>
          <p:cNvSpPr/>
          <p:nvPr/>
        </p:nvSpPr>
        <p:spPr>
          <a:xfrm>
            <a:off x="3861643" y="6436322"/>
            <a:ext cx="1240789" cy="238334"/>
          </a:xfrm>
          <a:prstGeom prst="rect">
            <a:avLst/>
          </a:prstGeom>
          <a:solidFill>
            <a:srgbClr val="4B74A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信息系统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A1CEF5-0D8E-42AD-828E-46A0559C4C2B}"/>
              </a:ext>
            </a:extLst>
          </p:cNvPr>
          <p:cNvSpPr/>
          <p:nvPr/>
        </p:nvSpPr>
        <p:spPr>
          <a:xfrm>
            <a:off x="2218181" y="6178274"/>
            <a:ext cx="7409895" cy="238334"/>
          </a:xfrm>
          <a:prstGeom prst="rect">
            <a:avLst/>
          </a:prstGeom>
          <a:solidFill>
            <a:srgbClr val="4B74A6"/>
          </a:solidFill>
          <a:ln w="9525" cap="rnd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重要信息基础设施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神经中枢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业务中枢、数据中枢、平台中枢、安全中枢、运行中枢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，实行重点保护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040A79-88AC-48CC-8F26-11E4E2293347}"/>
              </a:ext>
            </a:extLst>
          </p:cNvPr>
          <p:cNvSpPr/>
          <p:nvPr/>
        </p:nvSpPr>
        <p:spPr>
          <a:xfrm>
            <a:off x="9174773" y="1418997"/>
            <a:ext cx="2422789" cy="1350013"/>
          </a:xfrm>
          <a:prstGeom prst="rect">
            <a:avLst/>
          </a:prstGeom>
          <a:gradFill>
            <a:gsLst>
              <a:gs pos="53000">
                <a:srgbClr val="5987BF"/>
              </a:gs>
              <a:gs pos="0">
                <a:srgbClr val="9EB9DA"/>
              </a:gs>
              <a:gs pos="100000">
                <a:srgbClr val="254061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76BF8EF-7539-41A1-9315-B7CEA88025F2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10346205" y="1738246"/>
            <a:ext cx="4117" cy="216180"/>
          </a:xfrm>
          <a:prstGeom prst="line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01D2CBE-41F9-4A1A-8298-600F7CFCCDA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10346205" y="2218656"/>
            <a:ext cx="0" cy="219119"/>
          </a:xfrm>
          <a:prstGeom prst="line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A7FCB704-0D88-485C-9BBE-39D385711795}"/>
              </a:ext>
            </a:extLst>
          </p:cNvPr>
          <p:cNvSpPr/>
          <p:nvPr/>
        </p:nvSpPr>
        <p:spPr>
          <a:xfrm>
            <a:off x="9818850" y="1474016"/>
            <a:ext cx="1062944" cy="264230"/>
          </a:xfrm>
          <a:prstGeom prst="rect">
            <a:avLst/>
          </a:prstGeom>
          <a:solidFill>
            <a:srgbClr val="5C89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463E3B-9ED2-4F79-A4F9-CD7444F29D28}"/>
              </a:ext>
            </a:extLst>
          </p:cNvPr>
          <p:cNvSpPr/>
          <p:nvPr/>
        </p:nvSpPr>
        <p:spPr>
          <a:xfrm>
            <a:off x="9814733" y="1954426"/>
            <a:ext cx="1062944" cy="264230"/>
          </a:xfrm>
          <a:prstGeom prst="rect">
            <a:avLst/>
          </a:prstGeom>
          <a:solidFill>
            <a:srgbClr val="5C89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9B130D-E8AC-4F6E-8854-932F9BC994A2}"/>
              </a:ext>
            </a:extLst>
          </p:cNvPr>
          <p:cNvSpPr/>
          <p:nvPr/>
        </p:nvSpPr>
        <p:spPr>
          <a:xfrm>
            <a:off x="9814733" y="2437775"/>
            <a:ext cx="1062944" cy="264230"/>
          </a:xfrm>
          <a:prstGeom prst="rect">
            <a:avLst/>
          </a:prstGeom>
          <a:solidFill>
            <a:srgbClr val="5C89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5E5A83-F80D-4CE4-A703-3AE1B4367BF8}"/>
              </a:ext>
            </a:extLst>
          </p:cNvPr>
          <p:cNvSpPr/>
          <p:nvPr/>
        </p:nvSpPr>
        <p:spPr>
          <a:xfrm>
            <a:off x="10977117" y="1474015"/>
            <a:ext cx="459369" cy="1227989"/>
          </a:xfrm>
          <a:prstGeom prst="rect">
            <a:avLst/>
          </a:prstGeom>
          <a:solidFill>
            <a:srgbClr val="5C89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安全人员管理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0046F6-0DD5-4E57-8C3A-FB1F6775DF8F}"/>
              </a:ext>
            </a:extLst>
          </p:cNvPr>
          <p:cNvSpPr/>
          <p:nvPr/>
        </p:nvSpPr>
        <p:spPr>
          <a:xfrm>
            <a:off x="6587554" y="1418995"/>
            <a:ext cx="2531614" cy="1350013"/>
          </a:xfrm>
          <a:prstGeom prst="rect">
            <a:avLst/>
          </a:prstGeom>
          <a:gradFill>
            <a:gsLst>
              <a:gs pos="53000">
                <a:srgbClr val="5987BF"/>
              </a:gs>
              <a:gs pos="0">
                <a:srgbClr val="9EB9DA"/>
              </a:gs>
              <a:gs pos="100000">
                <a:srgbClr val="254061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AD5891-66FD-47FB-9C5F-00DC7B6F485F}"/>
              </a:ext>
            </a:extLst>
          </p:cNvPr>
          <p:cNvSpPr/>
          <p:nvPr/>
        </p:nvSpPr>
        <p:spPr>
          <a:xfrm>
            <a:off x="537115" y="2788722"/>
            <a:ext cx="11060834" cy="7370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2DCF79-B9B2-408D-825F-C16A0B6DD779}"/>
              </a:ext>
            </a:extLst>
          </p:cNvPr>
          <p:cNvSpPr/>
          <p:nvPr/>
        </p:nvSpPr>
        <p:spPr>
          <a:xfrm>
            <a:off x="1135754" y="3003264"/>
            <a:ext cx="3154486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指挥协同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43F82B-8604-4E30-B768-79C4EB5E1F2D}"/>
              </a:ext>
            </a:extLst>
          </p:cNvPr>
          <p:cNvSpPr/>
          <p:nvPr/>
        </p:nvSpPr>
        <p:spPr>
          <a:xfrm>
            <a:off x="536728" y="3545514"/>
            <a:ext cx="11060834" cy="92858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态势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0F9143-F222-4A17-A8A0-860D55945431}"/>
              </a:ext>
            </a:extLst>
          </p:cNvPr>
          <p:cNvSpPr/>
          <p:nvPr/>
        </p:nvSpPr>
        <p:spPr>
          <a:xfrm>
            <a:off x="8288096" y="2999804"/>
            <a:ext cx="3154486" cy="316209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196CEB-BF6C-4CDB-B4FE-B278D548C876}"/>
              </a:ext>
            </a:extLst>
          </p:cNvPr>
          <p:cNvSpPr/>
          <p:nvPr/>
        </p:nvSpPr>
        <p:spPr>
          <a:xfrm>
            <a:off x="4711925" y="3002252"/>
            <a:ext cx="3154486" cy="316210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748709B-5FCB-4791-93D3-088186677278}"/>
              </a:ext>
            </a:extLst>
          </p:cNvPr>
          <p:cNvSpPr/>
          <p:nvPr/>
        </p:nvSpPr>
        <p:spPr>
          <a:xfrm>
            <a:off x="6781942" y="1478643"/>
            <a:ext cx="968657" cy="258630"/>
          </a:xfrm>
          <a:prstGeom prst="rect">
            <a:avLst/>
          </a:prstGeom>
          <a:solidFill>
            <a:srgbClr val="5C89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主观考核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6F54AA-5EC9-46B1-95FE-0E91204B16B9}"/>
              </a:ext>
            </a:extLst>
          </p:cNvPr>
          <p:cNvSpPr/>
          <p:nvPr/>
        </p:nvSpPr>
        <p:spPr>
          <a:xfrm>
            <a:off x="7999745" y="1475008"/>
            <a:ext cx="968657" cy="262265"/>
          </a:xfrm>
          <a:prstGeom prst="rect">
            <a:avLst/>
          </a:prstGeom>
          <a:solidFill>
            <a:srgbClr val="5C89C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客观考核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20BA97-A10D-4450-A6CD-6794F551283E}"/>
              </a:ext>
            </a:extLst>
          </p:cNvPr>
          <p:cNvSpPr txBox="1"/>
          <p:nvPr/>
        </p:nvSpPr>
        <p:spPr>
          <a:xfrm>
            <a:off x="-16734" y="1712041"/>
            <a:ext cx="661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安全管理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F7912D-6AC1-47FD-A0DA-E7ED6E83F42D}"/>
              </a:ext>
            </a:extLst>
          </p:cNvPr>
          <p:cNvSpPr txBox="1"/>
          <p:nvPr/>
        </p:nvSpPr>
        <p:spPr>
          <a:xfrm>
            <a:off x="-14380" y="3048194"/>
            <a:ext cx="661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CC5E1B2-EA94-4DAE-8EC5-F0524CC58D94}"/>
              </a:ext>
            </a:extLst>
          </p:cNvPr>
          <p:cNvSpPr txBox="1"/>
          <p:nvPr/>
        </p:nvSpPr>
        <p:spPr>
          <a:xfrm>
            <a:off x="15239" y="4959215"/>
            <a:ext cx="661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安全技术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34D57A-FA79-439F-9185-706101F5A7B2}"/>
              </a:ext>
            </a:extLst>
          </p:cNvPr>
          <p:cNvSpPr/>
          <p:nvPr/>
        </p:nvSpPr>
        <p:spPr>
          <a:xfrm>
            <a:off x="533012" y="1418994"/>
            <a:ext cx="6002319" cy="827687"/>
          </a:xfrm>
          <a:prstGeom prst="rect">
            <a:avLst/>
          </a:prstGeom>
          <a:gradFill>
            <a:gsLst>
              <a:gs pos="100000">
                <a:srgbClr val="5987BF"/>
              </a:gs>
              <a:gs pos="0">
                <a:srgbClr val="9EB9DA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E1FF901-26B8-4AF0-830A-6CE65AA847F5}"/>
              </a:ext>
            </a:extLst>
          </p:cNvPr>
          <p:cNvSpPr/>
          <p:nvPr/>
        </p:nvSpPr>
        <p:spPr>
          <a:xfrm>
            <a:off x="1135362" y="1512599"/>
            <a:ext cx="5299051" cy="172451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协同保护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971CC1-BCDB-4CE7-8907-D56159CC580D}"/>
              </a:ext>
            </a:extLst>
          </p:cNvPr>
          <p:cNvSpPr/>
          <p:nvPr/>
        </p:nvSpPr>
        <p:spPr>
          <a:xfrm>
            <a:off x="1135194" y="1759824"/>
            <a:ext cx="5300545" cy="172451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强化保护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DF57269-7DD4-46A4-AA64-DA29DD102C43}"/>
              </a:ext>
            </a:extLst>
          </p:cNvPr>
          <p:cNvSpPr/>
          <p:nvPr/>
        </p:nvSpPr>
        <p:spPr>
          <a:xfrm>
            <a:off x="1135194" y="2007048"/>
            <a:ext cx="5300545" cy="172451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基础保护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17CC5-C541-4205-96CF-DAB485DBEEFD}"/>
              </a:ext>
            </a:extLst>
          </p:cNvPr>
          <p:cNvSpPr/>
          <p:nvPr/>
        </p:nvSpPr>
        <p:spPr>
          <a:xfrm>
            <a:off x="533012" y="2286743"/>
            <a:ext cx="6002319" cy="482265"/>
          </a:xfrm>
          <a:prstGeom prst="rect">
            <a:avLst/>
          </a:prstGeom>
          <a:gradFill>
            <a:gsLst>
              <a:gs pos="0">
                <a:srgbClr val="5987BF"/>
              </a:gs>
              <a:gs pos="100000">
                <a:srgbClr val="254061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运营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AC0DB6-6560-4F4B-B0F7-7F7B60172EA3}"/>
              </a:ext>
            </a:extLst>
          </p:cNvPr>
          <p:cNvSpPr/>
          <p:nvPr/>
        </p:nvSpPr>
        <p:spPr>
          <a:xfrm>
            <a:off x="1135369" y="2412126"/>
            <a:ext cx="1664762" cy="226460"/>
          </a:xfrm>
          <a:prstGeom prst="rect">
            <a:avLst/>
          </a:prstGeom>
          <a:solidFill>
            <a:srgbClr val="4B74A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管理类流程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1DD9EA7-DDC7-4C8D-8021-FE833C9BEE89}"/>
              </a:ext>
            </a:extLst>
          </p:cNvPr>
          <p:cNvSpPr/>
          <p:nvPr/>
        </p:nvSpPr>
        <p:spPr>
          <a:xfrm>
            <a:off x="2926984" y="2412126"/>
            <a:ext cx="1693600" cy="226460"/>
          </a:xfrm>
          <a:prstGeom prst="rect">
            <a:avLst/>
          </a:prstGeom>
          <a:solidFill>
            <a:srgbClr val="4B74A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调度类流程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7154EBA-0339-4EAB-AF6C-7863FB47FD53}"/>
              </a:ext>
            </a:extLst>
          </p:cNvPr>
          <p:cNvSpPr/>
          <p:nvPr/>
        </p:nvSpPr>
        <p:spPr>
          <a:xfrm>
            <a:off x="4747437" y="2412126"/>
            <a:ext cx="1693600" cy="226460"/>
          </a:xfrm>
          <a:prstGeom prst="rect">
            <a:avLst/>
          </a:prstGeom>
          <a:solidFill>
            <a:srgbClr val="4B74A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运行类流程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D0C1555-6706-4FF6-A049-C2F55F617A06}"/>
              </a:ext>
            </a:extLst>
          </p:cNvPr>
          <p:cNvSpPr/>
          <p:nvPr/>
        </p:nvSpPr>
        <p:spPr>
          <a:xfrm>
            <a:off x="1176129" y="1478413"/>
            <a:ext cx="1041664" cy="720328"/>
          </a:xfrm>
          <a:prstGeom prst="rect">
            <a:avLst/>
          </a:prstGeom>
          <a:solidFill>
            <a:srgbClr val="6A94C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F9078E-6E60-4E81-9425-9972A6EF6482}"/>
              </a:ext>
            </a:extLst>
          </p:cNvPr>
          <p:cNvSpPr/>
          <p:nvPr/>
        </p:nvSpPr>
        <p:spPr>
          <a:xfrm>
            <a:off x="1245212" y="1627719"/>
            <a:ext cx="912740" cy="410504"/>
          </a:xfrm>
          <a:prstGeom prst="rect">
            <a:avLst/>
          </a:prstGeom>
          <a:solidFill>
            <a:srgbClr val="9BB7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网络安全管理总纲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E4BC495-6E5E-4D3F-B889-D2CFB71F5057}"/>
              </a:ext>
            </a:extLst>
          </p:cNvPr>
          <p:cNvSpPr/>
          <p:nvPr/>
        </p:nvSpPr>
        <p:spPr>
          <a:xfrm>
            <a:off x="2307408" y="1478413"/>
            <a:ext cx="1041664" cy="720328"/>
          </a:xfrm>
          <a:prstGeom prst="rect">
            <a:avLst/>
          </a:prstGeom>
          <a:solidFill>
            <a:srgbClr val="6A94C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6EDB03B-1020-42EC-8C62-905046B63E99}"/>
              </a:ext>
            </a:extLst>
          </p:cNvPr>
          <p:cNvSpPr/>
          <p:nvPr/>
        </p:nvSpPr>
        <p:spPr>
          <a:xfrm>
            <a:off x="2376491" y="1631356"/>
            <a:ext cx="912740" cy="410504"/>
          </a:xfrm>
          <a:prstGeom prst="rect">
            <a:avLst/>
          </a:prstGeom>
          <a:solidFill>
            <a:srgbClr val="9BB7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网络安全管理办法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A2B29D7-7201-4355-B376-2B203C9414FC}"/>
              </a:ext>
            </a:extLst>
          </p:cNvPr>
          <p:cNvSpPr/>
          <p:nvPr/>
        </p:nvSpPr>
        <p:spPr>
          <a:xfrm>
            <a:off x="3424226" y="1478413"/>
            <a:ext cx="1041664" cy="720328"/>
          </a:xfrm>
          <a:prstGeom prst="rect">
            <a:avLst/>
          </a:prstGeom>
          <a:solidFill>
            <a:srgbClr val="6A94C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E85A431-B965-48D8-9998-85253A792160}"/>
              </a:ext>
            </a:extLst>
          </p:cNvPr>
          <p:cNvSpPr/>
          <p:nvPr/>
        </p:nvSpPr>
        <p:spPr>
          <a:xfrm>
            <a:off x="3493309" y="1630515"/>
            <a:ext cx="912740" cy="410504"/>
          </a:xfrm>
          <a:prstGeom prst="rect">
            <a:avLst/>
          </a:prstGeom>
          <a:solidFill>
            <a:srgbClr val="9BB7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网络安全管理细则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3DB8259-52DD-486E-9EA2-8025847A21DF}"/>
              </a:ext>
            </a:extLst>
          </p:cNvPr>
          <p:cNvSpPr/>
          <p:nvPr/>
        </p:nvSpPr>
        <p:spPr>
          <a:xfrm>
            <a:off x="4541669" y="1478413"/>
            <a:ext cx="1041664" cy="720328"/>
          </a:xfrm>
          <a:prstGeom prst="rect">
            <a:avLst/>
          </a:prstGeom>
          <a:solidFill>
            <a:srgbClr val="6A94C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97574A2-1C92-45DE-9E76-174FCCC33C30}"/>
              </a:ext>
            </a:extLst>
          </p:cNvPr>
          <p:cNvSpPr/>
          <p:nvPr/>
        </p:nvSpPr>
        <p:spPr>
          <a:xfrm>
            <a:off x="4610752" y="1643422"/>
            <a:ext cx="912740" cy="410504"/>
          </a:xfrm>
          <a:prstGeom prst="rect">
            <a:avLst/>
          </a:prstGeom>
          <a:solidFill>
            <a:srgbClr val="9BB7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网络安全管理表单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7FD3EAC-430D-4B60-A03B-BAE38A0724B8}"/>
              </a:ext>
            </a:extLst>
          </p:cNvPr>
          <p:cNvGrpSpPr/>
          <p:nvPr/>
        </p:nvGrpSpPr>
        <p:grpSpPr>
          <a:xfrm>
            <a:off x="96632" y="1426635"/>
            <a:ext cx="411936" cy="332239"/>
            <a:chOff x="134005" y="1292713"/>
            <a:chExt cx="447808" cy="487225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B41740B-A9B0-497D-99B9-167E596AEB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677" y="1292713"/>
              <a:ext cx="0" cy="48722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8E3DFAE-BD4C-4FDF-A2B5-F95FAE529AFD}"/>
                </a:ext>
              </a:extLst>
            </p:cNvPr>
            <p:cNvCxnSpPr>
              <a:cxnSpLocks/>
            </p:cNvCxnSpPr>
            <p:nvPr/>
          </p:nvCxnSpPr>
          <p:spPr>
            <a:xfrm>
              <a:off x="134005" y="1298168"/>
              <a:ext cx="447808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A56969D5-CC27-457D-9FB4-88C9EC722D10}"/>
              </a:ext>
            </a:extLst>
          </p:cNvPr>
          <p:cNvGrpSpPr/>
          <p:nvPr/>
        </p:nvGrpSpPr>
        <p:grpSpPr>
          <a:xfrm>
            <a:off x="95417" y="2235940"/>
            <a:ext cx="388960" cy="737080"/>
            <a:chOff x="144440" y="2349179"/>
            <a:chExt cx="388960" cy="1018702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3AFC893B-00CF-495F-98C1-36B6F869F401}"/>
                </a:ext>
              </a:extLst>
            </p:cNvPr>
            <p:cNvCxnSpPr>
              <a:cxnSpLocks/>
            </p:cNvCxnSpPr>
            <p:nvPr/>
          </p:nvCxnSpPr>
          <p:spPr>
            <a:xfrm>
              <a:off x="340677" y="2349179"/>
              <a:ext cx="0" cy="44404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2AD14AE-DAC4-400C-B6AE-3BBD7A5BACFB}"/>
                </a:ext>
              </a:extLst>
            </p:cNvPr>
            <p:cNvCxnSpPr>
              <a:cxnSpLocks/>
            </p:cNvCxnSpPr>
            <p:nvPr/>
          </p:nvCxnSpPr>
          <p:spPr>
            <a:xfrm>
              <a:off x="144440" y="2797215"/>
              <a:ext cx="38896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CB738441-2472-4631-AC93-AA39E99DE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08" y="2703416"/>
              <a:ext cx="4071" cy="66446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62F4E93-A123-4D4F-91F7-7FA519A68D9E}"/>
              </a:ext>
            </a:extLst>
          </p:cNvPr>
          <p:cNvGrpSpPr/>
          <p:nvPr/>
        </p:nvGrpSpPr>
        <p:grpSpPr>
          <a:xfrm>
            <a:off x="103799" y="3748283"/>
            <a:ext cx="388960" cy="1171344"/>
            <a:chOff x="119040" y="3759753"/>
            <a:chExt cx="388960" cy="1074917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C3C5D4D-EFE3-4E85-945C-0E33DFBBD10F}"/>
                </a:ext>
              </a:extLst>
            </p:cNvPr>
            <p:cNvCxnSpPr>
              <a:cxnSpLocks/>
            </p:cNvCxnSpPr>
            <p:nvPr/>
          </p:nvCxnSpPr>
          <p:spPr>
            <a:xfrm>
              <a:off x="119040" y="4432630"/>
              <a:ext cx="38896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D8463564-4C6D-47DE-A231-C33233375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61" y="4430283"/>
              <a:ext cx="0" cy="40438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57A586B1-F9CC-4DE6-9A35-D79D46EFB2E6}"/>
                </a:ext>
              </a:extLst>
            </p:cNvPr>
            <p:cNvCxnSpPr>
              <a:cxnSpLocks/>
            </p:cNvCxnSpPr>
            <p:nvPr/>
          </p:nvCxnSpPr>
          <p:spPr>
            <a:xfrm>
              <a:off x="317361" y="3759753"/>
              <a:ext cx="0" cy="67052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C043D09F-FAC6-4B1C-9185-7B48B9EE7E4F}"/>
              </a:ext>
            </a:extLst>
          </p:cNvPr>
          <p:cNvGrpSpPr/>
          <p:nvPr/>
        </p:nvGrpSpPr>
        <p:grpSpPr>
          <a:xfrm>
            <a:off x="106089" y="5493572"/>
            <a:ext cx="388960" cy="601815"/>
            <a:chOff x="136570" y="5172075"/>
            <a:chExt cx="388960" cy="489613"/>
          </a:xfrm>
        </p:grpSpPr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D4420AE3-6EEC-4983-9ED8-D7A3CE1D48D9}"/>
                </a:ext>
              </a:extLst>
            </p:cNvPr>
            <p:cNvCxnSpPr>
              <a:cxnSpLocks/>
            </p:cNvCxnSpPr>
            <p:nvPr/>
          </p:nvCxnSpPr>
          <p:spPr>
            <a:xfrm>
              <a:off x="136570" y="5658848"/>
              <a:ext cx="38896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DEE8B694-CF16-45D2-9B66-349FF28CDC59}"/>
                </a:ext>
              </a:extLst>
            </p:cNvPr>
            <p:cNvCxnSpPr>
              <a:cxnSpLocks/>
            </p:cNvCxnSpPr>
            <p:nvPr/>
          </p:nvCxnSpPr>
          <p:spPr>
            <a:xfrm>
              <a:off x="320536" y="5172075"/>
              <a:ext cx="0" cy="489613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10EF6D71-CFD6-465B-8F18-B9F8887733F0}"/>
              </a:ext>
            </a:extLst>
          </p:cNvPr>
          <p:cNvGrpSpPr/>
          <p:nvPr/>
        </p:nvGrpSpPr>
        <p:grpSpPr>
          <a:xfrm>
            <a:off x="7379456" y="1696874"/>
            <a:ext cx="935826" cy="1049478"/>
            <a:chOff x="7260672" y="980728"/>
            <a:chExt cx="1230289" cy="1379702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C3A4AD07-CA2B-4818-8597-CD9077E3E16E}"/>
                </a:ext>
              </a:extLst>
            </p:cNvPr>
            <p:cNvGrpSpPr/>
            <p:nvPr/>
          </p:nvGrpSpPr>
          <p:grpSpPr>
            <a:xfrm>
              <a:off x="7260672" y="980728"/>
              <a:ext cx="1230289" cy="1379702"/>
              <a:chOff x="7125691" y="1276250"/>
              <a:chExt cx="1230289" cy="1379702"/>
            </a:xfrm>
          </p:grpSpPr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E6CC4C2B-4394-4E4E-83CE-2F6363A47F02}"/>
                  </a:ext>
                </a:extLst>
              </p:cNvPr>
              <p:cNvGrpSpPr/>
              <p:nvPr/>
            </p:nvGrpSpPr>
            <p:grpSpPr>
              <a:xfrm rot="20751556">
                <a:off x="7125691" y="1276250"/>
                <a:ext cx="1230289" cy="1379702"/>
                <a:chOff x="7125691" y="1276250"/>
                <a:chExt cx="1230289" cy="1379702"/>
              </a:xfrm>
            </p:grpSpPr>
            <p:sp>
              <p:nvSpPr>
                <p:cNvPr id="68" name="MH_Other_1">
                  <a:extLst>
                    <a:ext uri="{FF2B5EF4-FFF2-40B4-BE49-F238E27FC236}">
                      <a16:creationId xmlns:a16="http://schemas.microsoft.com/office/drawing/2014/main" id="{348DE81E-6194-4969-8297-98DA28A64DB0}"/>
                    </a:ext>
                  </a:extLst>
                </p:cNvPr>
                <p:cNvSpPr/>
                <p:nvPr>
                  <p:custDataLst>
                    <p:tags r:id="rId2"/>
                  </p:custDataLst>
                </p:nvPr>
              </p:nvSpPr>
              <p:spPr bwMode="auto">
                <a:xfrm rot="10800000">
                  <a:off x="7595034" y="1360676"/>
                  <a:ext cx="760946" cy="1295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320" h="3707929">
                      <a:moveTo>
                        <a:pt x="1452521" y="3707929"/>
                      </a:moveTo>
                      <a:cubicBezTo>
                        <a:pt x="941492" y="3617872"/>
                        <a:pt x="490452" y="3304274"/>
                        <a:pt x="229263" y="2843787"/>
                      </a:cubicBezTo>
                      <a:cubicBezTo>
                        <a:pt x="-83392" y="2292562"/>
                        <a:pt x="-75789" y="1615862"/>
                        <a:pt x="249172" y="1071801"/>
                      </a:cubicBezTo>
                      <a:cubicBezTo>
                        <a:pt x="562264" y="547612"/>
                        <a:pt x="1123437" y="224431"/>
                        <a:pt x="1730680" y="214954"/>
                      </a:cubicBezTo>
                      <a:lnTo>
                        <a:pt x="1730680" y="0"/>
                      </a:lnTo>
                      <a:lnTo>
                        <a:pt x="2179320" y="553317"/>
                      </a:lnTo>
                      <a:lnTo>
                        <a:pt x="1730680" y="1059182"/>
                      </a:lnTo>
                      <a:lnTo>
                        <a:pt x="1730680" y="829708"/>
                      </a:lnTo>
                      <a:cubicBezTo>
                        <a:pt x="1338918" y="837704"/>
                        <a:pt x="977861" y="1047633"/>
                        <a:pt x="775616" y="1386239"/>
                      </a:cubicBezTo>
                      <a:cubicBezTo>
                        <a:pt x="563800" y="1740869"/>
                        <a:pt x="558844" y="2181955"/>
                        <a:pt x="762639" y="2541255"/>
                      </a:cubicBezTo>
                      <a:cubicBezTo>
                        <a:pt x="919646" y="2818065"/>
                        <a:pt x="1181902" y="3013444"/>
                        <a:pt x="1483264" y="3087330"/>
                      </a:cubicBezTo>
                      <a:lnTo>
                        <a:pt x="1203181" y="3402653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3175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anchor="b"/>
                <a:lstStyle/>
                <a:p>
                  <a:pPr algn="ctr">
                    <a:lnSpc>
                      <a:spcPct val="120000"/>
                    </a:lnSpc>
                    <a:spcBef>
                      <a:spcPts val="450"/>
                    </a:spcBef>
                    <a:spcAft>
                      <a:spcPts val="450"/>
                    </a:spcAft>
                    <a:defRPr/>
                  </a:pPr>
                  <a:endParaRPr lang="zh-CN" altLang="en-US" sz="1100" b="1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9" name="MH_SubTitle_2">
                  <a:extLst>
                    <a:ext uri="{FF2B5EF4-FFF2-40B4-BE49-F238E27FC236}">
                      <a16:creationId xmlns:a16="http://schemas.microsoft.com/office/drawing/2014/main" id="{AA61A89B-655E-4CC5-837C-5DE5302626E0}"/>
                    </a:ext>
                  </a:extLst>
                </p:cNvPr>
                <p:cNvSpPr/>
                <p:nvPr>
                  <p:custDataLst>
                    <p:tags r:id="rId3"/>
                  </p:custDataLst>
                </p:nvPr>
              </p:nvSpPr>
              <p:spPr>
                <a:xfrm rot="6248444">
                  <a:off x="7262911" y="1475274"/>
                  <a:ext cx="962111" cy="96211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spcFirstLastPara="1" wrap="square" anchor="ctr">
                  <a:prstTxWarp prst="textArchUp">
                    <a:avLst/>
                  </a:prstTxWarp>
                  <a:normAutofit/>
                </a:bodyPr>
                <a:lstStyle/>
                <a:p>
                  <a:pPr algn="ctr">
                    <a:defRPr/>
                  </a:pPr>
                  <a:r>
                    <a:rPr lang="zh-CN" altLang="en-US" sz="1100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动态调整</a:t>
                  </a:r>
                </a:p>
              </p:txBody>
            </p:sp>
            <p:sp>
              <p:nvSpPr>
                <p:cNvPr id="70" name="MH_Other_2">
                  <a:extLst>
                    <a:ext uri="{FF2B5EF4-FFF2-40B4-BE49-F238E27FC236}">
                      <a16:creationId xmlns:a16="http://schemas.microsoft.com/office/drawing/2014/main" id="{FA6AEDF5-2D5F-4495-8CC1-2352E8B64B15}"/>
                    </a:ext>
                  </a:extLst>
                </p:cNvPr>
                <p:cNvSpPr/>
                <p:nvPr>
                  <p:custDataLst>
                    <p:tags r:id="rId4"/>
                  </p:custDataLst>
                </p:nvPr>
              </p:nvSpPr>
              <p:spPr bwMode="auto">
                <a:xfrm>
                  <a:off x="7125691" y="1276250"/>
                  <a:ext cx="760946" cy="1295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320" h="3707929">
                      <a:moveTo>
                        <a:pt x="1730680" y="0"/>
                      </a:moveTo>
                      <a:lnTo>
                        <a:pt x="2179320" y="553317"/>
                      </a:lnTo>
                      <a:lnTo>
                        <a:pt x="1730680" y="1059182"/>
                      </a:lnTo>
                      <a:lnTo>
                        <a:pt x="1730680" y="829708"/>
                      </a:lnTo>
                      <a:cubicBezTo>
                        <a:pt x="1338918" y="837704"/>
                        <a:pt x="977861" y="1047633"/>
                        <a:pt x="775616" y="1386239"/>
                      </a:cubicBezTo>
                      <a:cubicBezTo>
                        <a:pt x="563800" y="1740869"/>
                        <a:pt x="558844" y="2181955"/>
                        <a:pt x="762639" y="2541255"/>
                      </a:cubicBezTo>
                      <a:cubicBezTo>
                        <a:pt x="919646" y="2818065"/>
                        <a:pt x="1181902" y="3013445"/>
                        <a:pt x="1483264" y="3087330"/>
                      </a:cubicBezTo>
                      <a:lnTo>
                        <a:pt x="1203181" y="3402653"/>
                      </a:lnTo>
                      <a:lnTo>
                        <a:pt x="1452521" y="3707929"/>
                      </a:lnTo>
                      <a:cubicBezTo>
                        <a:pt x="941492" y="3617872"/>
                        <a:pt x="490452" y="3304274"/>
                        <a:pt x="229263" y="2843787"/>
                      </a:cubicBezTo>
                      <a:cubicBezTo>
                        <a:pt x="-83392" y="2292562"/>
                        <a:pt x="-75789" y="1615862"/>
                        <a:pt x="249172" y="1071801"/>
                      </a:cubicBezTo>
                      <a:cubicBezTo>
                        <a:pt x="562264" y="547612"/>
                        <a:pt x="1123437" y="224431"/>
                        <a:pt x="1730680" y="2149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endParaRPr lang="zh-CN" altLang="en-US" sz="1100">
                    <a:solidFill>
                      <a:srgbClr val="4D4D4D"/>
                    </a:solidFill>
                    <a:latin typeface="+mn-ea"/>
                  </a:endParaRPr>
                </a:p>
              </p:txBody>
            </p:sp>
          </p:grpSp>
          <p:sp>
            <p:nvSpPr>
              <p:cNvPr id="67" name="MH_SubTitle_1">
                <a:extLst>
                  <a:ext uri="{FF2B5EF4-FFF2-40B4-BE49-F238E27FC236}">
                    <a16:creationId xmlns:a16="http://schemas.microsoft.com/office/drawing/2014/main" id="{D1E1691C-D3A1-41F1-A037-404196C818C0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 rot="16200000">
                <a:off x="7262911" y="1475274"/>
                <a:ext cx="962111" cy="9621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1" wrap="square" anchor="ctr">
                <a:prstTxWarp prst="textArchUp">
                  <a:avLst/>
                </a:prstTxWarp>
                <a:normAutofit/>
              </a:bodyPr>
              <a:lstStyle/>
              <a:p>
                <a:pPr algn="ctr">
                  <a:defRPr/>
                </a:pPr>
                <a:r>
                  <a:rPr lang="zh-CN" altLang="en-US" sz="11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常态监督</a:t>
                </a:r>
              </a:p>
            </p:txBody>
          </p:sp>
        </p:grp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9634315-9A1E-4606-A60B-8C3E889E232A}"/>
                </a:ext>
              </a:extLst>
            </p:cNvPr>
            <p:cNvSpPr txBox="1"/>
            <p:nvPr/>
          </p:nvSpPr>
          <p:spPr>
            <a:xfrm>
              <a:off x="7505473" y="1352734"/>
              <a:ext cx="740685" cy="567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考核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机制</a:t>
              </a:r>
            </a:p>
          </p:txBody>
        </p:sp>
      </p:grpSp>
      <p:sp>
        <p:nvSpPr>
          <p:cNvPr id="71" name="矩形 70">
            <a:extLst>
              <a:ext uri="{FF2B5EF4-FFF2-40B4-BE49-F238E27FC236}">
                <a16:creationId xmlns:a16="http://schemas.microsoft.com/office/drawing/2014/main" id="{F6817EF6-9DBE-4350-9024-F7A335B2285F}"/>
              </a:ext>
            </a:extLst>
          </p:cNvPr>
          <p:cNvSpPr/>
          <p:nvPr/>
        </p:nvSpPr>
        <p:spPr>
          <a:xfrm>
            <a:off x="1052430" y="4601838"/>
            <a:ext cx="10408280" cy="288671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扩展态势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7AD5EB6-060C-48EE-9749-C387C45CCB1F}"/>
              </a:ext>
            </a:extLst>
          </p:cNvPr>
          <p:cNvSpPr/>
          <p:nvPr/>
        </p:nvSpPr>
        <p:spPr>
          <a:xfrm>
            <a:off x="8733281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可信态势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3F2D4AA-5BE9-4476-912E-A083B366D7F8}"/>
              </a:ext>
            </a:extLst>
          </p:cNvPr>
          <p:cNvSpPr/>
          <p:nvPr/>
        </p:nvSpPr>
        <p:spPr>
          <a:xfrm>
            <a:off x="1924565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安全态势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9B97501-FD1F-47FF-A511-AECE33235F97}"/>
              </a:ext>
            </a:extLst>
          </p:cNvPr>
          <p:cNvSpPr/>
          <p:nvPr/>
        </p:nvSpPr>
        <p:spPr>
          <a:xfrm>
            <a:off x="4648051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IAM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安全态势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FB9B796-F78D-411B-9BF8-802ACE80F938}"/>
              </a:ext>
            </a:extLst>
          </p:cNvPr>
          <p:cNvSpPr/>
          <p:nvPr/>
        </p:nvSpPr>
        <p:spPr>
          <a:xfrm>
            <a:off x="3286308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邮件安全态势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D5676FB-8352-4BC8-93AE-C393C3DFCA1A}"/>
              </a:ext>
            </a:extLst>
          </p:cNvPr>
          <p:cNvSpPr/>
          <p:nvPr/>
        </p:nvSpPr>
        <p:spPr>
          <a:xfrm>
            <a:off x="7371537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弱点态势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3B97552-E2FC-4C3D-938E-8037A17ECB75}"/>
              </a:ext>
            </a:extLst>
          </p:cNvPr>
          <p:cNvSpPr/>
          <p:nvPr/>
        </p:nvSpPr>
        <p:spPr>
          <a:xfrm>
            <a:off x="6009794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ID/IP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关联分析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784CED7-134A-4EC1-AFD6-86502596D74C}"/>
              </a:ext>
            </a:extLst>
          </p:cNvPr>
          <p:cNvSpPr/>
          <p:nvPr/>
        </p:nvSpPr>
        <p:spPr>
          <a:xfrm>
            <a:off x="10194224" y="4655060"/>
            <a:ext cx="1167646" cy="208940"/>
          </a:xfrm>
          <a:prstGeom prst="rect">
            <a:avLst/>
          </a:prstGeom>
          <a:solidFill>
            <a:srgbClr val="3E6CA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攻击溯源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7AD44B4-27F8-40C4-9DB1-1087BB01E4A9}"/>
              </a:ext>
            </a:extLst>
          </p:cNvPr>
          <p:cNvSpPr txBox="1"/>
          <p:nvPr/>
        </p:nvSpPr>
        <p:spPr>
          <a:xfrm>
            <a:off x="9907763" y="4572034"/>
            <a:ext cx="29046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…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DA58AF9-AEB9-41F0-823B-0D0E66A960A8}"/>
              </a:ext>
            </a:extLst>
          </p:cNvPr>
          <p:cNvSpPr/>
          <p:nvPr/>
        </p:nvSpPr>
        <p:spPr>
          <a:xfrm>
            <a:off x="537116" y="4484918"/>
            <a:ext cx="11060833" cy="1598147"/>
          </a:xfrm>
          <a:prstGeom prst="rect">
            <a:avLst/>
          </a:prstGeom>
          <a:gradFill flip="none" rotWithShape="1">
            <a:gsLst>
              <a:gs pos="43000">
                <a:srgbClr val="5987BF"/>
              </a:gs>
              <a:gs pos="0">
                <a:srgbClr val="9EB9DA"/>
              </a:gs>
              <a:gs pos="100000">
                <a:srgbClr val="25406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AA9753C-8582-4EF2-B19E-780876352894}"/>
              </a:ext>
            </a:extLst>
          </p:cNvPr>
          <p:cNvSpPr/>
          <p:nvPr/>
        </p:nvSpPr>
        <p:spPr>
          <a:xfrm>
            <a:off x="1143486" y="5551401"/>
            <a:ext cx="10305088" cy="458298"/>
          </a:xfrm>
          <a:prstGeom prst="rect">
            <a:avLst/>
          </a:prstGeom>
          <a:solidFill>
            <a:srgbClr val="4B74A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基础保护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DF1DD9D-CE73-450D-A360-E48A2AECFD9A}"/>
              </a:ext>
            </a:extLst>
          </p:cNvPr>
          <p:cNvSpPr/>
          <p:nvPr/>
        </p:nvSpPr>
        <p:spPr>
          <a:xfrm>
            <a:off x="1143487" y="4569219"/>
            <a:ext cx="10305087" cy="906772"/>
          </a:xfrm>
          <a:prstGeom prst="rect">
            <a:avLst/>
          </a:prstGeom>
          <a:solidFill>
            <a:srgbClr val="4B74A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强化保护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4CCF465-9128-4C5C-83FB-4B49008AAF00}"/>
              </a:ext>
            </a:extLst>
          </p:cNvPr>
          <p:cNvSpPr/>
          <p:nvPr/>
        </p:nvSpPr>
        <p:spPr>
          <a:xfrm>
            <a:off x="1913781" y="5633452"/>
            <a:ext cx="4621550" cy="299999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合规安全建设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F40889C-9140-4A87-BB79-830CCC47E1A5}"/>
              </a:ext>
            </a:extLst>
          </p:cNvPr>
          <p:cNvSpPr/>
          <p:nvPr/>
        </p:nvSpPr>
        <p:spPr>
          <a:xfrm>
            <a:off x="1913782" y="5070068"/>
            <a:ext cx="9438252" cy="304032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网络安全能力中心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389299B-D724-4146-BC3C-84CC66F99439}"/>
              </a:ext>
            </a:extLst>
          </p:cNvPr>
          <p:cNvSpPr/>
          <p:nvPr/>
        </p:nvSpPr>
        <p:spPr>
          <a:xfrm>
            <a:off x="1913781" y="4679906"/>
            <a:ext cx="2030160" cy="302043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预测体系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4EDFD2B-095C-4971-BCD2-EBFA0A0CDC6E}"/>
              </a:ext>
            </a:extLst>
          </p:cNvPr>
          <p:cNvSpPr/>
          <p:nvPr/>
        </p:nvSpPr>
        <p:spPr>
          <a:xfrm>
            <a:off x="6715019" y="4683091"/>
            <a:ext cx="2070556" cy="300330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检测体系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F44B3C4-0D4E-464F-A033-C3987F09022A}"/>
              </a:ext>
            </a:extLst>
          </p:cNvPr>
          <p:cNvSpPr/>
          <p:nvPr/>
        </p:nvSpPr>
        <p:spPr>
          <a:xfrm>
            <a:off x="9039597" y="4683090"/>
            <a:ext cx="2310304" cy="302043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应急体系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3D5E43F-8061-4B4E-8842-9C06B1631BBA}"/>
              </a:ext>
            </a:extLst>
          </p:cNvPr>
          <p:cNvSpPr/>
          <p:nvPr/>
        </p:nvSpPr>
        <p:spPr>
          <a:xfrm>
            <a:off x="4197963" y="4679907"/>
            <a:ext cx="2263034" cy="302042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防御体系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6CE4434-E61A-4BA2-8BCD-E6B085AB6899}"/>
              </a:ext>
            </a:extLst>
          </p:cNvPr>
          <p:cNvSpPr/>
          <p:nvPr/>
        </p:nvSpPr>
        <p:spPr>
          <a:xfrm>
            <a:off x="6634945" y="5633453"/>
            <a:ext cx="4717091" cy="299998"/>
          </a:xfrm>
          <a:prstGeom prst="rect">
            <a:avLst/>
          </a:prstGeom>
          <a:solidFill>
            <a:srgbClr val="698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供应链安全</a:t>
            </a:r>
          </a:p>
        </p:txBody>
      </p:sp>
      <p:sp>
        <p:nvSpPr>
          <p:cNvPr id="90" name="等腰三角形 89">
            <a:extLst>
              <a:ext uri="{FF2B5EF4-FFF2-40B4-BE49-F238E27FC236}">
                <a16:creationId xmlns:a16="http://schemas.microsoft.com/office/drawing/2014/main" id="{4C85E2C5-E440-43AD-A0E4-FECD6AA6F15D}"/>
              </a:ext>
            </a:extLst>
          </p:cNvPr>
          <p:cNvSpPr/>
          <p:nvPr/>
        </p:nvSpPr>
        <p:spPr>
          <a:xfrm>
            <a:off x="536728" y="727550"/>
            <a:ext cx="11060834" cy="664216"/>
          </a:xfrm>
          <a:prstGeom prst="triangle">
            <a:avLst>
              <a:gd name="adj" fmla="val 50000"/>
            </a:avLst>
          </a:prstGeom>
          <a:solidFill>
            <a:srgbClr val="9DB8DA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网络安全总体规划蓝图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70779E9-4207-4115-811B-A4E007432088}"/>
              </a:ext>
            </a:extLst>
          </p:cNvPr>
          <p:cNvSpPr/>
          <p:nvPr/>
        </p:nvSpPr>
        <p:spPr>
          <a:xfrm>
            <a:off x="1156629" y="3618981"/>
            <a:ext cx="4952511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业务安全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8FEFC17-60D5-4ABE-B833-30620BDC2A42}"/>
              </a:ext>
            </a:extLst>
          </p:cNvPr>
          <p:cNvSpPr/>
          <p:nvPr/>
        </p:nvSpPr>
        <p:spPr>
          <a:xfrm>
            <a:off x="6558305" y="3617380"/>
            <a:ext cx="4897421" cy="316210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数据安全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A408E8D-5477-4210-B947-A668E98662A0}"/>
              </a:ext>
            </a:extLst>
          </p:cNvPr>
          <p:cNvSpPr/>
          <p:nvPr/>
        </p:nvSpPr>
        <p:spPr>
          <a:xfrm>
            <a:off x="1148899" y="4044221"/>
            <a:ext cx="1502033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主机侧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7230E99-AFAC-4475-84BD-7A07A3DBC440}"/>
              </a:ext>
            </a:extLst>
          </p:cNvPr>
          <p:cNvSpPr/>
          <p:nvPr/>
        </p:nvSpPr>
        <p:spPr>
          <a:xfrm>
            <a:off x="4667159" y="4044221"/>
            <a:ext cx="1502033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网络侧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C2D9772-D575-4487-AC43-3D304B4AC2E3}"/>
              </a:ext>
            </a:extLst>
          </p:cNvPr>
          <p:cNvSpPr/>
          <p:nvPr/>
        </p:nvSpPr>
        <p:spPr>
          <a:xfrm>
            <a:off x="6426289" y="4044221"/>
            <a:ext cx="1502033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策略侧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7C862E17-0DFD-4F96-8529-D16A63860B96}"/>
              </a:ext>
            </a:extLst>
          </p:cNvPr>
          <p:cNvSpPr/>
          <p:nvPr/>
        </p:nvSpPr>
        <p:spPr>
          <a:xfrm>
            <a:off x="8185419" y="4044221"/>
            <a:ext cx="1502033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终端侧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A804729-1B6A-4B06-B9D0-7D34741D1A7B}"/>
              </a:ext>
            </a:extLst>
          </p:cNvPr>
          <p:cNvSpPr/>
          <p:nvPr/>
        </p:nvSpPr>
        <p:spPr>
          <a:xfrm>
            <a:off x="9944547" y="4044221"/>
            <a:ext cx="1502033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用户侧</a:t>
            </a:r>
          </a:p>
        </p:txBody>
      </p:sp>
      <p:sp>
        <p:nvSpPr>
          <p:cNvPr id="100" name="标题 1">
            <a:extLst>
              <a:ext uri="{FF2B5EF4-FFF2-40B4-BE49-F238E27FC236}">
                <a16:creationId xmlns:a16="http://schemas.microsoft.com/office/drawing/2014/main" id="{CBF9E1DA-5D85-4CC6-8E1E-81976830EAFB}"/>
              </a:ext>
            </a:extLst>
          </p:cNvPr>
          <p:cNvSpPr txBox="1">
            <a:spLocks/>
          </p:cNvSpPr>
          <p:nvPr/>
        </p:nvSpPr>
        <p:spPr>
          <a:xfrm>
            <a:off x="480000" y="164637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algn="l" fontAlgn="auto"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FFFF00"/>
                </a:solidFill>
              </a:rPr>
              <a:t>总体规划蓝图</a:t>
            </a:r>
            <a:endParaRPr kumimoji="1" lang="en-US" altLang="zh-CN" sz="2800" b="1" dirty="0">
              <a:solidFill>
                <a:srgbClr val="FFFF00"/>
              </a:solidFill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A408E8D-5477-4210-B947-A668E98662A0}"/>
              </a:ext>
            </a:extLst>
          </p:cNvPr>
          <p:cNvSpPr/>
          <p:nvPr/>
        </p:nvSpPr>
        <p:spPr>
          <a:xfrm>
            <a:off x="2908029" y="4044221"/>
            <a:ext cx="1502033" cy="318537"/>
          </a:xfrm>
          <a:prstGeom prst="rect">
            <a:avLst/>
          </a:prstGeom>
          <a:solidFill>
            <a:srgbClr val="33588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应用侧</a:t>
            </a:r>
          </a:p>
        </p:txBody>
      </p:sp>
    </p:spTree>
    <p:extLst>
      <p:ext uri="{BB962C8B-B14F-4D97-AF65-F5344CB8AC3E}">
        <p14:creationId xmlns:p14="http://schemas.microsoft.com/office/powerpoint/2010/main" val="6579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534442B-1012-4525-988D-8EDE7255F10C}"/>
              </a:ext>
            </a:extLst>
          </p:cNvPr>
          <p:cNvSpPr txBox="1">
            <a:spLocks/>
          </p:cNvSpPr>
          <p:nvPr/>
        </p:nvSpPr>
        <p:spPr>
          <a:xfrm>
            <a:off x="480000" y="164637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algn="l" fontAlgn="auto">
              <a:spcAft>
                <a:spcPts val="0"/>
              </a:spcAft>
              <a:defRPr/>
            </a:pPr>
            <a:r>
              <a:rPr kumimoji="1" lang="zh-CN" altLang="en-US" sz="2800" b="1" dirty="0">
                <a:solidFill>
                  <a:srgbClr val="FFFF00"/>
                </a:solidFill>
              </a:rPr>
              <a:t>总体规划全景图</a:t>
            </a:r>
            <a:endParaRPr kumimoji="1" lang="en-US" altLang="zh-CN" sz="2800" b="1" dirty="0">
              <a:solidFill>
                <a:srgbClr val="FFFF0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CA0CC84-2537-46FB-8901-CFDC9670F9DD}"/>
              </a:ext>
            </a:extLst>
          </p:cNvPr>
          <p:cNvSpPr txBox="1">
            <a:spLocks/>
          </p:cNvSpPr>
          <p:nvPr/>
        </p:nvSpPr>
        <p:spPr>
          <a:xfrm>
            <a:off x="129872" y="141834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19" name="标题 1">
            <a:extLst>
              <a:ext uri="{FF2B5EF4-FFF2-40B4-BE49-F238E27FC236}">
                <a16:creationId xmlns:a16="http://schemas.microsoft.com/office/drawing/2014/main" id="{2CA0CC84-2537-46FB-8901-CFDC9670F9DD}"/>
              </a:ext>
            </a:extLst>
          </p:cNvPr>
          <p:cNvSpPr txBox="1">
            <a:spLocks/>
          </p:cNvSpPr>
          <p:nvPr/>
        </p:nvSpPr>
        <p:spPr>
          <a:xfrm>
            <a:off x="129872" y="141834"/>
            <a:ext cx="11232000" cy="576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6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>
              <a:defRPr/>
            </a:pPr>
            <a:endParaRPr kumimoji="1" lang="en-US" altLang="zh-CN" sz="2800" b="1" dirty="0">
              <a:solidFill>
                <a:srgbClr val="FFFF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27883D-98BD-49F2-BB37-A74B02EA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1654" y="6356352"/>
            <a:ext cx="2743200" cy="365125"/>
          </a:xfrm>
          <a:noFill/>
        </p:spPr>
        <p:txBody>
          <a:bodyPr/>
          <a:lstStyle/>
          <a:p>
            <a:fld id="{D06C1031-165E-48F2-A7A4-E55D77A54FC0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7D84367-B2A7-4C2E-8D5E-E4B97EFE05D6}"/>
              </a:ext>
            </a:extLst>
          </p:cNvPr>
          <p:cNvSpPr/>
          <p:nvPr/>
        </p:nvSpPr>
        <p:spPr>
          <a:xfrm>
            <a:off x="687300" y="2285871"/>
            <a:ext cx="7133206" cy="11485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872DA2D-44A8-468D-9114-CC094242A0D9}"/>
              </a:ext>
            </a:extLst>
          </p:cNvPr>
          <p:cNvSpPr/>
          <p:nvPr/>
        </p:nvSpPr>
        <p:spPr>
          <a:xfrm>
            <a:off x="7898879" y="856298"/>
            <a:ext cx="2062425" cy="2578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</a:p>
        </p:txBody>
      </p:sp>
      <p:sp>
        <p:nvSpPr>
          <p:cNvPr id="165" name="等腰三角形 164">
            <a:extLst>
              <a:ext uri="{FF2B5EF4-FFF2-40B4-BE49-F238E27FC236}">
                <a16:creationId xmlns:a16="http://schemas.microsoft.com/office/drawing/2014/main" id="{675C767C-05A9-42BF-A8C6-8B0EFF93CB24}"/>
              </a:ext>
            </a:extLst>
          </p:cNvPr>
          <p:cNvSpPr/>
          <p:nvPr/>
        </p:nvSpPr>
        <p:spPr>
          <a:xfrm>
            <a:off x="687300" y="411928"/>
            <a:ext cx="11252192" cy="394950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网络安全总体规划全景图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8B55474B-17F7-4E10-9DF1-55C633203BB9}"/>
              </a:ext>
            </a:extLst>
          </p:cNvPr>
          <p:cNvSpPr/>
          <p:nvPr/>
        </p:nvSpPr>
        <p:spPr>
          <a:xfrm>
            <a:off x="680158" y="856298"/>
            <a:ext cx="7140348" cy="1307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制度</a:t>
            </a:r>
          </a:p>
        </p:txBody>
      </p:sp>
      <p:sp>
        <p:nvSpPr>
          <p:cNvPr id="167" name="圆角矩形 6">
            <a:extLst>
              <a:ext uri="{FF2B5EF4-FFF2-40B4-BE49-F238E27FC236}">
                <a16:creationId xmlns:a16="http://schemas.microsoft.com/office/drawing/2014/main" id="{7EDBCE91-3EC8-4FF3-8B0F-34616E083FFB}"/>
              </a:ext>
            </a:extLst>
          </p:cNvPr>
          <p:cNvSpPr/>
          <p:nvPr/>
        </p:nvSpPr>
        <p:spPr>
          <a:xfrm>
            <a:off x="3534566" y="901416"/>
            <a:ext cx="1530975" cy="1574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网络安全总纲</a:t>
            </a:r>
          </a:p>
        </p:txBody>
      </p:sp>
      <p:sp>
        <p:nvSpPr>
          <p:cNvPr id="168" name="圆角矩形 22">
            <a:extLst>
              <a:ext uri="{FF2B5EF4-FFF2-40B4-BE49-F238E27FC236}">
                <a16:creationId xmlns:a16="http://schemas.microsoft.com/office/drawing/2014/main" id="{1797FA77-EF43-4C07-A336-015E521D7E4E}"/>
              </a:ext>
            </a:extLst>
          </p:cNvPr>
          <p:cNvSpPr/>
          <p:nvPr/>
        </p:nvSpPr>
        <p:spPr>
          <a:xfrm>
            <a:off x="1181823" y="1160170"/>
            <a:ext cx="1257543" cy="2061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安全管理机构管理办法</a:t>
            </a:r>
          </a:p>
        </p:txBody>
      </p:sp>
      <p:sp>
        <p:nvSpPr>
          <p:cNvPr id="169" name="圆角矩形 24">
            <a:extLst>
              <a:ext uri="{FF2B5EF4-FFF2-40B4-BE49-F238E27FC236}">
                <a16:creationId xmlns:a16="http://schemas.microsoft.com/office/drawing/2014/main" id="{AF8279C2-1E34-4312-BCD2-6BE1E9CCBE9C}"/>
              </a:ext>
            </a:extLst>
          </p:cNvPr>
          <p:cNvSpPr/>
          <p:nvPr/>
        </p:nvSpPr>
        <p:spPr>
          <a:xfrm>
            <a:off x="2572201" y="1160170"/>
            <a:ext cx="1090604" cy="2061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人员安全管理办法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圆角矩形 25">
            <a:extLst>
              <a:ext uri="{FF2B5EF4-FFF2-40B4-BE49-F238E27FC236}">
                <a16:creationId xmlns:a16="http://schemas.microsoft.com/office/drawing/2014/main" id="{BE1A50BF-0FF2-453E-9E63-12E553B84563}"/>
              </a:ext>
            </a:extLst>
          </p:cNvPr>
          <p:cNvSpPr/>
          <p:nvPr/>
        </p:nvSpPr>
        <p:spPr>
          <a:xfrm>
            <a:off x="3795640" y="1160170"/>
            <a:ext cx="1090604" cy="2061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安全建设管理办法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圆角矩形 28">
            <a:extLst>
              <a:ext uri="{FF2B5EF4-FFF2-40B4-BE49-F238E27FC236}">
                <a16:creationId xmlns:a16="http://schemas.microsoft.com/office/drawing/2014/main" id="{F8271ACD-32D1-4137-A1A8-69AFEFD32EB1}"/>
              </a:ext>
            </a:extLst>
          </p:cNvPr>
          <p:cNvSpPr/>
          <p:nvPr/>
        </p:nvSpPr>
        <p:spPr>
          <a:xfrm>
            <a:off x="5019079" y="1160170"/>
            <a:ext cx="1340796" cy="2061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安全运营一体化管理办法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圆角矩形 36">
            <a:extLst>
              <a:ext uri="{FF2B5EF4-FFF2-40B4-BE49-F238E27FC236}">
                <a16:creationId xmlns:a16="http://schemas.microsoft.com/office/drawing/2014/main" id="{0CF3F93D-19FD-4F68-8DFF-D413EC9180C6}"/>
              </a:ext>
            </a:extLst>
          </p:cNvPr>
          <p:cNvSpPr/>
          <p:nvPr/>
        </p:nvSpPr>
        <p:spPr>
          <a:xfrm>
            <a:off x="6492708" y="1160170"/>
            <a:ext cx="1257543" cy="2061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安全绩效考核管理办法</a:t>
            </a:r>
          </a:p>
        </p:txBody>
      </p:sp>
      <p:sp>
        <p:nvSpPr>
          <p:cNvPr id="173" name="圆角矩形 40">
            <a:extLst>
              <a:ext uri="{FF2B5EF4-FFF2-40B4-BE49-F238E27FC236}">
                <a16:creationId xmlns:a16="http://schemas.microsoft.com/office/drawing/2014/main" id="{A93360F1-1252-48BF-8B01-D58A484EC295}"/>
              </a:ext>
            </a:extLst>
          </p:cNvPr>
          <p:cNvSpPr/>
          <p:nvPr/>
        </p:nvSpPr>
        <p:spPr>
          <a:xfrm>
            <a:off x="1171595" y="1471468"/>
            <a:ext cx="432000" cy="6564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第三方人员安全管理细则</a:t>
            </a:r>
          </a:p>
        </p:txBody>
      </p:sp>
      <p:sp>
        <p:nvSpPr>
          <p:cNvPr id="174" name="圆角矩形 42">
            <a:extLst>
              <a:ext uri="{FF2B5EF4-FFF2-40B4-BE49-F238E27FC236}">
                <a16:creationId xmlns:a16="http://schemas.microsoft.com/office/drawing/2014/main" id="{F9824D43-0894-498F-BA0E-FFDF54AEEB93}"/>
              </a:ext>
            </a:extLst>
          </p:cNvPr>
          <p:cNvSpPr/>
          <p:nvPr/>
        </p:nvSpPr>
        <p:spPr>
          <a:xfrm>
            <a:off x="2595755" y="1471029"/>
            <a:ext cx="351854" cy="6564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重点保护对象识别报备管理细则</a:t>
            </a:r>
          </a:p>
        </p:txBody>
      </p:sp>
      <p:sp>
        <p:nvSpPr>
          <p:cNvPr id="175" name="圆角矩形 49">
            <a:extLst>
              <a:ext uri="{FF2B5EF4-FFF2-40B4-BE49-F238E27FC236}">
                <a16:creationId xmlns:a16="http://schemas.microsoft.com/office/drawing/2014/main" id="{408BB9B7-5511-461E-8491-16D427F409A5}"/>
              </a:ext>
            </a:extLst>
          </p:cNvPr>
          <p:cNvSpPr/>
          <p:nvPr/>
        </p:nvSpPr>
        <p:spPr>
          <a:xfrm>
            <a:off x="2158217" y="1476161"/>
            <a:ext cx="336154" cy="6564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系统上线管理细则</a:t>
            </a:r>
          </a:p>
        </p:txBody>
      </p:sp>
      <p:sp>
        <p:nvSpPr>
          <p:cNvPr id="176" name="圆角矩形 52">
            <a:extLst>
              <a:ext uri="{FF2B5EF4-FFF2-40B4-BE49-F238E27FC236}">
                <a16:creationId xmlns:a16="http://schemas.microsoft.com/office/drawing/2014/main" id="{916E352D-B8D5-4E57-B07E-858F6F077702}"/>
              </a:ext>
            </a:extLst>
          </p:cNvPr>
          <p:cNvSpPr/>
          <p:nvPr/>
        </p:nvSpPr>
        <p:spPr>
          <a:xfrm>
            <a:off x="3581353" y="1471468"/>
            <a:ext cx="340871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资产安全管理细则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圆角矩形 55">
            <a:extLst>
              <a:ext uri="{FF2B5EF4-FFF2-40B4-BE49-F238E27FC236}">
                <a16:creationId xmlns:a16="http://schemas.microsoft.com/office/drawing/2014/main" id="{08E0B541-B0F9-4664-9971-237B98CD937E}"/>
              </a:ext>
            </a:extLst>
          </p:cNvPr>
          <p:cNvSpPr/>
          <p:nvPr/>
        </p:nvSpPr>
        <p:spPr>
          <a:xfrm>
            <a:off x="4023608" y="1471239"/>
            <a:ext cx="403414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漏洞和风险管理细则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圆角矩形 58">
            <a:extLst>
              <a:ext uri="{FF2B5EF4-FFF2-40B4-BE49-F238E27FC236}">
                <a16:creationId xmlns:a16="http://schemas.microsoft.com/office/drawing/2014/main" id="{98797BD0-FF80-464C-A469-4D468F520AEC}"/>
              </a:ext>
            </a:extLst>
          </p:cNvPr>
          <p:cNvSpPr/>
          <p:nvPr/>
        </p:nvSpPr>
        <p:spPr>
          <a:xfrm>
            <a:off x="4528406" y="1471468"/>
            <a:ext cx="340870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密码管理细则</a:t>
            </a:r>
          </a:p>
        </p:txBody>
      </p:sp>
      <p:sp>
        <p:nvSpPr>
          <p:cNvPr id="179" name="圆角矩形 60">
            <a:extLst>
              <a:ext uri="{FF2B5EF4-FFF2-40B4-BE49-F238E27FC236}">
                <a16:creationId xmlns:a16="http://schemas.microsoft.com/office/drawing/2014/main" id="{C0A598BB-2AC0-45E6-B4AC-536551EEB884}"/>
              </a:ext>
            </a:extLst>
          </p:cNvPr>
          <p:cNvSpPr/>
          <p:nvPr/>
        </p:nvSpPr>
        <p:spPr>
          <a:xfrm>
            <a:off x="4970660" y="1471468"/>
            <a:ext cx="337597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数据安全管理细则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圆角矩形 62">
            <a:extLst>
              <a:ext uri="{FF2B5EF4-FFF2-40B4-BE49-F238E27FC236}">
                <a16:creationId xmlns:a16="http://schemas.microsoft.com/office/drawing/2014/main" id="{A1C0954F-EBC9-4E04-A200-33282427ACDA}"/>
              </a:ext>
            </a:extLst>
          </p:cNvPr>
          <p:cNvSpPr/>
          <p:nvPr/>
        </p:nvSpPr>
        <p:spPr>
          <a:xfrm>
            <a:off x="5409641" y="1462806"/>
            <a:ext cx="568150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安全事件处置及应急预案管理细则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圆角矩形 63">
            <a:extLst>
              <a:ext uri="{FF2B5EF4-FFF2-40B4-BE49-F238E27FC236}">
                <a16:creationId xmlns:a16="http://schemas.microsoft.com/office/drawing/2014/main" id="{50904E18-80BD-40A1-B5A0-211EB94952FE}"/>
              </a:ext>
            </a:extLst>
          </p:cNvPr>
          <p:cNvSpPr/>
          <p:nvPr/>
        </p:nvSpPr>
        <p:spPr>
          <a:xfrm>
            <a:off x="6079175" y="1471468"/>
            <a:ext cx="341626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外包运维管理细则</a:t>
            </a:r>
          </a:p>
        </p:txBody>
      </p:sp>
      <p:sp>
        <p:nvSpPr>
          <p:cNvPr id="182" name="圆角矩形 68">
            <a:extLst>
              <a:ext uri="{FF2B5EF4-FFF2-40B4-BE49-F238E27FC236}">
                <a16:creationId xmlns:a16="http://schemas.microsoft.com/office/drawing/2014/main" id="{FA75FB28-2ADC-44D3-9AD4-C9F6076FA847}"/>
              </a:ext>
            </a:extLst>
          </p:cNvPr>
          <p:cNvSpPr/>
          <p:nvPr/>
        </p:nvSpPr>
        <p:spPr>
          <a:xfrm>
            <a:off x="3048993" y="1471239"/>
            <a:ext cx="430976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网络安全能力审核评估管理细则</a:t>
            </a:r>
          </a:p>
        </p:txBody>
      </p:sp>
      <p:sp>
        <p:nvSpPr>
          <p:cNvPr id="183" name="圆角矩形 70">
            <a:extLst>
              <a:ext uri="{FF2B5EF4-FFF2-40B4-BE49-F238E27FC236}">
                <a16:creationId xmlns:a16="http://schemas.microsoft.com/office/drawing/2014/main" id="{3037DAA1-F0AE-479C-BA17-02DA835B447A}"/>
              </a:ext>
            </a:extLst>
          </p:cNvPr>
          <p:cNvSpPr/>
          <p:nvPr/>
        </p:nvSpPr>
        <p:spPr>
          <a:xfrm>
            <a:off x="6522185" y="1471468"/>
            <a:ext cx="568800" cy="656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态势感知与预警通报管理细则</a:t>
            </a:r>
            <a:endParaRPr lang="en-US" altLang="zh-CN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4" name="肘形连接符 11">
            <a:extLst>
              <a:ext uri="{FF2B5EF4-FFF2-40B4-BE49-F238E27FC236}">
                <a16:creationId xmlns:a16="http://schemas.microsoft.com/office/drawing/2014/main" id="{2842AEED-E3B3-42A7-AEDE-71C82AE1A87D}"/>
              </a:ext>
            </a:extLst>
          </p:cNvPr>
          <p:cNvCxnSpPr>
            <a:cxnSpLocks/>
            <a:stCxn id="167" idx="2"/>
            <a:endCxn id="168" idx="0"/>
          </p:cNvCxnSpPr>
          <p:nvPr/>
        </p:nvCxnSpPr>
        <p:spPr>
          <a:xfrm rot="5400000">
            <a:off x="3004651" y="-135234"/>
            <a:ext cx="101349" cy="248945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肘形连接符 14">
            <a:extLst>
              <a:ext uri="{FF2B5EF4-FFF2-40B4-BE49-F238E27FC236}">
                <a16:creationId xmlns:a16="http://schemas.microsoft.com/office/drawing/2014/main" id="{98596058-80F5-4619-97A1-B0446E8D1621}"/>
              </a:ext>
            </a:extLst>
          </p:cNvPr>
          <p:cNvCxnSpPr>
            <a:cxnSpLocks/>
            <a:stCxn id="167" idx="2"/>
            <a:endCxn id="169" idx="0"/>
          </p:cNvCxnSpPr>
          <p:nvPr/>
        </p:nvCxnSpPr>
        <p:spPr>
          <a:xfrm rot="5400000">
            <a:off x="3658105" y="518220"/>
            <a:ext cx="101349" cy="118255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肘形连接符 18">
            <a:extLst>
              <a:ext uri="{FF2B5EF4-FFF2-40B4-BE49-F238E27FC236}">
                <a16:creationId xmlns:a16="http://schemas.microsoft.com/office/drawing/2014/main" id="{10166187-A620-42F3-B5CB-334B4B0CF65F}"/>
              </a:ext>
            </a:extLst>
          </p:cNvPr>
          <p:cNvCxnSpPr>
            <a:cxnSpLocks/>
            <a:stCxn id="167" idx="2"/>
            <a:endCxn id="170" idx="0"/>
          </p:cNvCxnSpPr>
          <p:nvPr/>
        </p:nvCxnSpPr>
        <p:spPr>
          <a:xfrm rot="16200000" flipH="1">
            <a:off x="4269824" y="1089051"/>
            <a:ext cx="101349" cy="4088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肘形连接符 78">
            <a:extLst>
              <a:ext uri="{FF2B5EF4-FFF2-40B4-BE49-F238E27FC236}">
                <a16:creationId xmlns:a16="http://schemas.microsoft.com/office/drawing/2014/main" id="{BD5ACC71-5652-4FA3-A7BD-BA7ED7975629}"/>
              </a:ext>
            </a:extLst>
          </p:cNvPr>
          <p:cNvCxnSpPr>
            <a:cxnSpLocks/>
            <a:stCxn id="167" idx="2"/>
            <a:endCxn id="171" idx="0"/>
          </p:cNvCxnSpPr>
          <p:nvPr/>
        </p:nvCxnSpPr>
        <p:spPr>
          <a:xfrm rot="16200000" flipH="1">
            <a:off x="4944091" y="414783"/>
            <a:ext cx="101349" cy="138942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肘形连接符 84">
            <a:extLst>
              <a:ext uri="{FF2B5EF4-FFF2-40B4-BE49-F238E27FC236}">
                <a16:creationId xmlns:a16="http://schemas.microsoft.com/office/drawing/2014/main" id="{1BEA3FF9-D3D1-49E2-B747-FFBD7B94A7BD}"/>
              </a:ext>
            </a:extLst>
          </p:cNvPr>
          <p:cNvCxnSpPr>
            <a:cxnSpLocks/>
            <a:stCxn id="167" idx="2"/>
            <a:endCxn id="172" idx="0"/>
          </p:cNvCxnSpPr>
          <p:nvPr/>
        </p:nvCxnSpPr>
        <p:spPr>
          <a:xfrm rot="16200000" flipH="1">
            <a:off x="5660093" y="-301218"/>
            <a:ext cx="101349" cy="282142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F0B11138-560B-4342-962B-D80FFF29C0D3}"/>
              </a:ext>
            </a:extLst>
          </p:cNvPr>
          <p:cNvCxnSpPr>
            <a:cxnSpLocks/>
            <a:stCxn id="169" idx="2"/>
            <a:endCxn id="173" idx="0"/>
          </p:cNvCxnSpPr>
          <p:nvPr/>
        </p:nvCxnSpPr>
        <p:spPr>
          <a:xfrm flipH="1">
            <a:off x="1387595" y="1366368"/>
            <a:ext cx="1729908" cy="10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13888597-BEC7-4AC7-8CDE-0291C014CF29}"/>
              </a:ext>
            </a:extLst>
          </p:cNvPr>
          <p:cNvCxnSpPr>
            <a:cxnSpLocks/>
            <a:stCxn id="170" idx="2"/>
            <a:endCxn id="174" idx="0"/>
          </p:cNvCxnSpPr>
          <p:nvPr/>
        </p:nvCxnSpPr>
        <p:spPr>
          <a:xfrm flipH="1">
            <a:off x="2771682" y="1366368"/>
            <a:ext cx="1569260" cy="1046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4FFFFBF8-EB61-4EAE-86A0-DCE568647282}"/>
              </a:ext>
            </a:extLst>
          </p:cNvPr>
          <p:cNvCxnSpPr>
            <a:cxnSpLocks/>
            <a:stCxn id="170" idx="2"/>
            <a:endCxn id="175" idx="0"/>
          </p:cNvCxnSpPr>
          <p:nvPr/>
        </p:nvCxnSpPr>
        <p:spPr>
          <a:xfrm flipH="1">
            <a:off x="2326294" y="1366368"/>
            <a:ext cx="2014648" cy="1097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0080CCA2-34CF-435F-BF4D-B1AE6AABB411}"/>
              </a:ext>
            </a:extLst>
          </p:cNvPr>
          <p:cNvCxnSpPr>
            <a:cxnSpLocks/>
            <a:stCxn id="170" idx="2"/>
            <a:endCxn id="182" idx="0"/>
          </p:cNvCxnSpPr>
          <p:nvPr/>
        </p:nvCxnSpPr>
        <p:spPr>
          <a:xfrm flipH="1">
            <a:off x="3264481" y="1366368"/>
            <a:ext cx="1076461" cy="104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AFF6F9A3-8C10-4D24-AD67-76670183C72E}"/>
              </a:ext>
            </a:extLst>
          </p:cNvPr>
          <p:cNvCxnSpPr>
            <a:cxnSpLocks/>
            <a:stCxn id="171" idx="2"/>
            <a:endCxn id="177" idx="0"/>
          </p:cNvCxnSpPr>
          <p:nvPr/>
        </p:nvCxnSpPr>
        <p:spPr>
          <a:xfrm flipH="1">
            <a:off x="4225315" y="1366368"/>
            <a:ext cx="1464162" cy="104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6DCDF026-CA14-404B-B2BB-2CCB54F648BE}"/>
              </a:ext>
            </a:extLst>
          </p:cNvPr>
          <p:cNvCxnSpPr>
            <a:cxnSpLocks/>
            <a:stCxn id="171" idx="2"/>
            <a:endCxn id="176" idx="0"/>
          </p:cNvCxnSpPr>
          <p:nvPr/>
        </p:nvCxnSpPr>
        <p:spPr>
          <a:xfrm flipH="1">
            <a:off x="3751789" y="1366368"/>
            <a:ext cx="1937688" cy="10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6653919-C66D-4868-9A87-7D253649E632}"/>
              </a:ext>
            </a:extLst>
          </p:cNvPr>
          <p:cNvCxnSpPr>
            <a:cxnSpLocks/>
            <a:stCxn id="171" idx="2"/>
            <a:endCxn id="178" idx="0"/>
          </p:cNvCxnSpPr>
          <p:nvPr/>
        </p:nvCxnSpPr>
        <p:spPr>
          <a:xfrm flipH="1">
            <a:off x="4698841" y="1366368"/>
            <a:ext cx="990636" cy="10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1930B5C3-3B90-4280-BE6E-18D872D8796C}"/>
              </a:ext>
            </a:extLst>
          </p:cNvPr>
          <p:cNvCxnSpPr>
            <a:cxnSpLocks/>
            <a:stCxn id="171" idx="2"/>
            <a:endCxn id="179" idx="0"/>
          </p:cNvCxnSpPr>
          <p:nvPr/>
        </p:nvCxnSpPr>
        <p:spPr>
          <a:xfrm flipH="1">
            <a:off x="5139459" y="1366368"/>
            <a:ext cx="550018" cy="10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4969DC3B-B13C-4CB4-A137-B34AFAF2B238}"/>
              </a:ext>
            </a:extLst>
          </p:cNvPr>
          <p:cNvCxnSpPr>
            <a:cxnSpLocks/>
            <a:stCxn id="171" idx="2"/>
            <a:endCxn id="180" idx="0"/>
          </p:cNvCxnSpPr>
          <p:nvPr/>
        </p:nvCxnSpPr>
        <p:spPr>
          <a:xfrm>
            <a:off x="5689477" y="1366368"/>
            <a:ext cx="4239" cy="96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BABF2802-49DB-4FA5-B5A3-1733BF2AF0F5}"/>
              </a:ext>
            </a:extLst>
          </p:cNvPr>
          <p:cNvCxnSpPr>
            <a:cxnSpLocks/>
            <a:stCxn id="171" idx="2"/>
            <a:endCxn id="181" idx="0"/>
          </p:cNvCxnSpPr>
          <p:nvPr/>
        </p:nvCxnSpPr>
        <p:spPr>
          <a:xfrm>
            <a:off x="5689477" y="1366368"/>
            <a:ext cx="560511" cy="10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40A03375-664D-4121-8DA9-729F217AE815}"/>
              </a:ext>
            </a:extLst>
          </p:cNvPr>
          <p:cNvCxnSpPr>
            <a:cxnSpLocks/>
            <a:stCxn id="171" idx="2"/>
            <a:endCxn id="183" idx="0"/>
          </p:cNvCxnSpPr>
          <p:nvPr/>
        </p:nvCxnSpPr>
        <p:spPr>
          <a:xfrm>
            <a:off x="5689477" y="1366368"/>
            <a:ext cx="1117108" cy="10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圆角矩形 71">
            <a:extLst>
              <a:ext uri="{FF2B5EF4-FFF2-40B4-BE49-F238E27FC236}">
                <a16:creationId xmlns:a16="http://schemas.microsoft.com/office/drawing/2014/main" id="{2B6B4012-65B0-4C72-A902-05108DF4992B}"/>
              </a:ext>
            </a:extLst>
          </p:cNvPr>
          <p:cNvSpPr/>
          <p:nvPr/>
        </p:nvSpPr>
        <p:spPr>
          <a:xfrm>
            <a:off x="7192374" y="1471237"/>
            <a:ext cx="568800" cy="656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信息共享与指挥协同管理细则</a:t>
            </a:r>
          </a:p>
        </p:txBody>
      </p: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1EAB6281-A24D-44D4-A9E0-2D7B32AB0436}"/>
              </a:ext>
            </a:extLst>
          </p:cNvPr>
          <p:cNvCxnSpPr>
            <a:cxnSpLocks/>
            <a:stCxn id="171" idx="2"/>
            <a:endCxn id="200" idx="0"/>
          </p:cNvCxnSpPr>
          <p:nvPr/>
        </p:nvCxnSpPr>
        <p:spPr>
          <a:xfrm>
            <a:off x="5689477" y="1366368"/>
            <a:ext cx="1787297" cy="104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矩形 201">
            <a:extLst>
              <a:ext uri="{FF2B5EF4-FFF2-40B4-BE49-F238E27FC236}">
                <a16:creationId xmlns:a16="http://schemas.microsoft.com/office/drawing/2014/main" id="{E36F7115-52E6-42C5-B027-C94F12553295}"/>
              </a:ext>
            </a:extLst>
          </p:cNvPr>
          <p:cNvSpPr/>
          <p:nvPr/>
        </p:nvSpPr>
        <p:spPr>
          <a:xfrm>
            <a:off x="10019370" y="857813"/>
            <a:ext cx="1891094" cy="2576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</a:p>
        </p:txBody>
      </p: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B08E7581-8148-4500-A90A-50F675397D63}"/>
              </a:ext>
            </a:extLst>
          </p:cNvPr>
          <p:cNvCxnSpPr>
            <a:cxnSpLocks/>
            <a:stCxn id="205" idx="2"/>
            <a:endCxn id="206" idx="0"/>
          </p:cNvCxnSpPr>
          <p:nvPr/>
        </p:nvCxnSpPr>
        <p:spPr>
          <a:xfrm>
            <a:off x="11135702" y="1259446"/>
            <a:ext cx="124" cy="1357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B39159FC-A623-413D-AD89-C8A60ED6D526}"/>
              </a:ext>
            </a:extLst>
          </p:cNvPr>
          <p:cNvCxnSpPr>
            <a:cxnSpLocks/>
            <a:stCxn id="206" idx="2"/>
            <a:endCxn id="207" idx="0"/>
          </p:cNvCxnSpPr>
          <p:nvPr/>
        </p:nvCxnSpPr>
        <p:spPr>
          <a:xfrm flipH="1">
            <a:off x="11134367" y="1737711"/>
            <a:ext cx="1459" cy="1311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 204">
            <a:extLst>
              <a:ext uri="{FF2B5EF4-FFF2-40B4-BE49-F238E27FC236}">
                <a16:creationId xmlns:a16="http://schemas.microsoft.com/office/drawing/2014/main" id="{702D501C-1D3B-41AD-908C-5EA67D738514}"/>
              </a:ext>
            </a:extLst>
          </p:cNvPr>
          <p:cNvSpPr/>
          <p:nvPr/>
        </p:nvSpPr>
        <p:spPr>
          <a:xfrm>
            <a:off x="10701530" y="916949"/>
            <a:ext cx="868343" cy="3424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决策层</a:t>
            </a: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0C330103-D8BC-47AE-80AD-ABF5C22C0951}"/>
              </a:ext>
            </a:extLst>
          </p:cNvPr>
          <p:cNvSpPr/>
          <p:nvPr/>
        </p:nvSpPr>
        <p:spPr>
          <a:xfrm>
            <a:off x="10701654" y="1395213"/>
            <a:ext cx="868343" cy="342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管理层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0854B317-46F6-4200-A052-391DE169B88A}"/>
              </a:ext>
            </a:extLst>
          </p:cNvPr>
          <p:cNvSpPr/>
          <p:nvPr/>
        </p:nvSpPr>
        <p:spPr>
          <a:xfrm>
            <a:off x="10487133" y="1868813"/>
            <a:ext cx="1294467" cy="15109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执行层</a:t>
            </a: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C55111E8-9E3E-47A9-859B-E0B203F6F3C0}"/>
              </a:ext>
            </a:extLst>
          </p:cNvPr>
          <p:cNvSpPr/>
          <p:nvPr/>
        </p:nvSpPr>
        <p:spPr>
          <a:xfrm>
            <a:off x="10634182" y="2076263"/>
            <a:ext cx="358362" cy="1251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网络安全运营支撑团队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33300B8C-E160-41D0-B005-4EE53438AAEF}"/>
              </a:ext>
            </a:extLst>
          </p:cNvPr>
          <p:cNvSpPr/>
          <p:nvPr/>
        </p:nvSpPr>
        <p:spPr>
          <a:xfrm>
            <a:off x="11282254" y="2074300"/>
            <a:ext cx="358362" cy="125384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各单位安全团队</a:t>
            </a: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059113CF-47A2-47D1-BC37-41A2005796B9}"/>
              </a:ext>
            </a:extLst>
          </p:cNvPr>
          <p:cNvSpPr/>
          <p:nvPr/>
        </p:nvSpPr>
        <p:spPr>
          <a:xfrm>
            <a:off x="8376755" y="898343"/>
            <a:ext cx="596266" cy="24813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主观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578BDEA5-F638-4C2C-860B-A161BE030B9D}"/>
              </a:ext>
            </a:extLst>
          </p:cNvPr>
          <p:cNvSpPr/>
          <p:nvPr/>
        </p:nvSpPr>
        <p:spPr>
          <a:xfrm>
            <a:off x="8424835" y="1275702"/>
            <a:ext cx="491455" cy="4370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管理体系建设及运行</a:t>
            </a: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584446C6-E379-4C86-982A-96FC989C9AB4}"/>
              </a:ext>
            </a:extLst>
          </p:cNvPr>
          <p:cNvSpPr/>
          <p:nvPr/>
        </p:nvSpPr>
        <p:spPr>
          <a:xfrm>
            <a:off x="8424835" y="2058128"/>
            <a:ext cx="491455" cy="4370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运营体系建设及运行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7EDD8DF5-CD8B-49B6-A663-901C1800599B}"/>
              </a:ext>
            </a:extLst>
          </p:cNvPr>
          <p:cNvSpPr/>
          <p:nvPr/>
        </p:nvSpPr>
        <p:spPr>
          <a:xfrm>
            <a:off x="8424835" y="2840552"/>
            <a:ext cx="491455" cy="4370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技术体系建设及运行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5DE6584B-39DE-4175-B231-2E550D8EADAE}"/>
              </a:ext>
            </a:extLst>
          </p:cNvPr>
          <p:cNvSpPr/>
          <p:nvPr/>
        </p:nvSpPr>
        <p:spPr>
          <a:xfrm>
            <a:off x="9017592" y="898343"/>
            <a:ext cx="882638" cy="24813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  <a:endParaRPr lang="zh-CN" altLang="en-US" sz="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6A5ADC9D-14DC-4C67-B7CC-840F84BA0E71}"/>
              </a:ext>
            </a:extLst>
          </p:cNvPr>
          <p:cNvSpPr/>
          <p:nvPr/>
        </p:nvSpPr>
        <p:spPr>
          <a:xfrm>
            <a:off x="9052787" y="1276163"/>
            <a:ext cx="828000" cy="28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安全岗位设置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AF114A05-5A9D-41D4-AD9D-5B1E4AE9385F}"/>
              </a:ext>
            </a:extLst>
          </p:cNvPr>
          <p:cNvSpPr/>
          <p:nvPr/>
        </p:nvSpPr>
        <p:spPr>
          <a:xfrm>
            <a:off x="9052787" y="1619063"/>
            <a:ext cx="828000" cy="28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等保工作落实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692045E4-40D9-4BEE-82B0-D94CFB46919F}"/>
              </a:ext>
            </a:extLst>
          </p:cNvPr>
          <p:cNvSpPr/>
          <p:nvPr/>
        </p:nvSpPr>
        <p:spPr>
          <a:xfrm>
            <a:off x="9052787" y="1961963"/>
            <a:ext cx="828000" cy="28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高危漏洞修复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1925F1B8-D432-436A-B933-5216BF28C7FB}"/>
              </a:ext>
            </a:extLst>
          </p:cNvPr>
          <p:cNvSpPr/>
          <p:nvPr/>
        </p:nvSpPr>
        <p:spPr>
          <a:xfrm>
            <a:off x="9052787" y="2304863"/>
            <a:ext cx="828000" cy="28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安全时间处理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21D30FA8-2B2F-4EA7-A9B6-6CC72AA378FC}"/>
              </a:ext>
            </a:extLst>
          </p:cNvPr>
          <p:cNvSpPr/>
          <p:nvPr/>
        </p:nvSpPr>
        <p:spPr>
          <a:xfrm>
            <a:off x="9052787" y="2647763"/>
            <a:ext cx="828000" cy="28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应急响应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E3F4F8D9-54AE-474B-A60F-FBBAF555D20B}"/>
              </a:ext>
            </a:extLst>
          </p:cNvPr>
          <p:cNvSpPr/>
          <p:nvPr/>
        </p:nvSpPr>
        <p:spPr>
          <a:xfrm>
            <a:off x="9052787" y="2990662"/>
            <a:ext cx="828000" cy="28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基线合规</a:t>
            </a:r>
          </a:p>
        </p:txBody>
      </p:sp>
      <p:sp>
        <p:nvSpPr>
          <p:cNvPr id="221" name="圆角矩形 38">
            <a:extLst>
              <a:ext uri="{FF2B5EF4-FFF2-40B4-BE49-F238E27FC236}">
                <a16:creationId xmlns:a16="http://schemas.microsoft.com/office/drawing/2014/main" id="{9F996728-8944-435F-91DF-4827EFE7CB97}"/>
              </a:ext>
            </a:extLst>
          </p:cNvPr>
          <p:cNvSpPr/>
          <p:nvPr/>
        </p:nvSpPr>
        <p:spPr>
          <a:xfrm>
            <a:off x="7530219" y="2317263"/>
            <a:ext cx="223138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安全绩效考核流程</a:t>
            </a:r>
          </a:p>
        </p:txBody>
      </p:sp>
      <p:sp>
        <p:nvSpPr>
          <p:cNvPr id="222" name="圆角矩形 40">
            <a:extLst>
              <a:ext uri="{FF2B5EF4-FFF2-40B4-BE49-F238E27FC236}">
                <a16:creationId xmlns:a16="http://schemas.microsoft.com/office/drawing/2014/main" id="{B1847EA3-2F32-42FD-90AE-B5F9FB914C82}"/>
              </a:ext>
            </a:extLst>
          </p:cNvPr>
          <p:cNvSpPr/>
          <p:nvPr/>
        </p:nvSpPr>
        <p:spPr>
          <a:xfrm>
            <a:off x="2206259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运营能力管理流程</a:t>
            </a:r>
          </a:p>
        </p:txBody>
      </p:sp>
      <p:sp>
        <p:nvSpPr>
          <p:cNvPr id="223" name="圆角矩形 42">
            <a:extLst>
              <a:ext uri="{FF2B5EF4-FFF2-40B4-BE49-F238E27FC236}">
                <a16:creationId xmlns:a16="http://schemas.microsoft.com/office/drawing/2014/main" id="{0730004F-9F53-4DD8-90BF-D472B4981D5A}"/>
              </a:ext>
            </a:extLst>
          </p:cNvPr>
          <p:cNvSpPr/>
          <p:nvPr/>
        </p:nvSpPr>
        <p:spPr>
          <a:xfrm>
            <a:off x="5212313" y="2317263"/>
            <a:ext cx="230452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服务连续性流程</a:t>
            </a:r>
          </a:p>
        </p:txBody>
      </p:sp>
      <p:sp>
        <p:nvSpPr>
          <p:cNvPr id="224" name="圆角矩形 45">
            <a:extLst>
              <a:ext uri="{FF2B5EF4-FFF2-40B4-BE49-F238E27FC236}">
                <a16:creationId xmlns:a16="http://schemas.microsoft.com/office/drawing/2014/main" id="{F9E87875-DEF9-494F-8FCF-5A021B0651A5}"/>
              </a:ext>
            </a:extLst>
          </p:cNvPr>
          <p:cNvSpPr/>
          <p:nvPr/>
        </p:nvSpPr>
        <p:spPr>
          <a:xfrm>
            <a:off x="4544301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安全问题处理流程</a:t>
            </a:r>
          </a:p>
        </p:txBody>
      </p:sp>
      <p:sp>
        <p:nvSpPr>
          <p:cNvPr id="225" name="圆角矩形 46">
            <a:extLst>
              <a:ext uri="{FF2B5EF4-FFF2-40B4-BE49-F238E27FC236}">
                <a16:creationId xmlns:a16="http://schemas.microsoft.com/office/drawing/2014/main" id="{A2376911-79C6-4826-90E1-AB30A1429B93}"/>
              </a:ext>
            </a:extLst>
          </p:cNvPr>
          <p:cNvSpPr/>
          <p:nvPr/>
        </p:nvSpPr>
        <p:spPr>
          <a:xfrm>
            <a:off x="3542283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安全配置管理流程</a:t>
            </a:r>
          </a:p>
        </p:txBody>
      </p:sp>
      <p:sp>
        <p:nvSpPr>
          <p:cNvPr id="226" name="圆角矩形 49">
            <a:extLst>
              <a:ext uri="{FF2B5EF4-FFF2-40B4-BE49-F238E27FC236}">
                <a16:creationId xmlns:a16="http://schemas.microsoft.com/office/drawing/2014/main" id="{064D1D90-04DB-4BC9-9A57-43A8CFF58C2E}"/>
              </a:ext>
            </a:extLst>
          </p:cNvPr>
          <p:cNvSpPr/>
          <p:nvPr/>
        </p:nvSpPr>
        <p:spPr>
          <a:xfrm>
            <a:off x="2540265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资产管理流程</a:t>
            </a:r>
          </a:p>
        </p:txBody>
      </p:sp>
      <p:sp>
        <p:nvSpPr>
          <p:cNvPr id="227" name="圆角矩形 50">
            <a:extLst>
              <a:ext uri="{FF2B5EF4-FFF2-40B4-BE49-F238E27FC236}">
                <a16:creationId xmlns:a16="http://schemas.microsoft.com/office/drawing/2014/main" id="{27E714B8-4515-4C0B-BB75-C212A13B6EE2}"/>
              </a:ext>
            </a:extLst>
          </p:cNvPr>
          <p:cNvSpPr/>
          <p:nvPr/>
        </p:nvSpPr>
        <p:spPr>
          <a:xfrm>
            <a:off x="1872253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系统建设管理流程</a:t>
            </a:r>
          </a:p>
        </p:txBody>
      </p:sp>
      <p:sp>
        <p:nvSpPr>
          <p:cNvPr id="228" name="圆角矩形 51">
            <a:extLst>
              <a:ext uri="{FF2B5EF4-FFF2-40B4-BE49-F238E27FC236}">
                <a16:creationId xmlns:a16="http://schemas.microsoft.com/office/drawing/2014/main" id="{AE60A842-84EF-40B4-B224-3AF8A3969835}"/>
              </a:ext>
            </a:extLst>
          </p:cNvPr>
          <p:cNvSpPr/>
          <p:nvPr/>
        </p:nvSpPr>
        <p:spPr>
          <a:xfrm>
            <a:off x="2874271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安全加固流程</a:t>
            </a:r>
          </a:p>
        </p:txBody>
      </p:sp>
      <p:sp>
        <p:nvSpPr>
          <p:cNvPr id="229" name="圆角矩形 52">
            <a:extLst>
              <a:ext uri="{FF2B5EF4-FFF2-40B4-BE49-F238E27FC236}">
                <a16:creationId xmlns:a16="http://schemas.microsoft.com/office/drawing/2014/main" id="{087AF35B-9FEE-49FD-B96B-BED6872DE73E}"/>
              </a:ext>
            </a:extLst>
          </p:cNvPr>
          <p:cNvSpPr/>
          <p:nvPr/>
        </p:nvSpPr>
        <p:spPr>
          <a:xfrm>
            <a:off x="4210295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安全巡检流程</a:t>
            </a:r>
          </a:p>
        </p:txBody>
      </p:sp>
      <p:sp>
        <p:nvSpPr>
          <p:cNvPr id="230" name="圆角矩形 53">
            <a:extLst>
              <a:ext uri="{FF2B5EF4-FFF2-40B4-BE49-F238E27FC236}">
                <a16:creationId xmlns:a16="http://schemas.microsoft.com/office/drawing/2014/main" id="{A9285AAE-3207-4BE1-B7CD-A4E2F4BB025B}"/>
              </a:ext>
            </a:extLst>
          </p:cNvPr>
          <p:cNvSpPr/>
          <p:nvPr/>
        </p:nvSpPr>
        <p:spPr>
          <a:xfrm>
            <a:off x="3208277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风险评估流程</a:t>
            </a:r>
          </a:p>
        </p:txBody>
      </p:sp>
      <p:sp>
        <p:nvSpPr>
          <p:cNvPr id="231" name="圆角矩形 55">
            <a:extLst>
              <a:ext uri="{FF2B5EF4-FFF2-40B4-BE49-F238E27FC236}">
                <a16:creationId xmlns:a16="http://schemas.microsoft.com/office/drawing/2014/main" id="{74269443-4D1E-4FFA-897F-B9FBBD20BCFC}"/>
              </a:ext>
            </a:extLst>
          </p:cNvPr>
          <p:cNvSpPr/>
          <p:nvPr/>
        </p:nvSpPr>
        <p:spPr>
          <a:xfrm>
            <a:off x="6226362" y="2317263"/>
            <a:ext cx="223138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持续监测流程</a:t>
            </a:r>
          </a:p>
        </p:txBody>
      </p:sp>
      <p:sp>
        <p:nvSpPr>
          <p:cNvPr id="232" name="圆角矩形 56">
            <a:extLst>
              <a:ext uri="{FF2B5EF4-FFF2-40B4-BE49-F238E27FC236}">
                <a16:creationId xmlns:a16="http://schemas.microsoft.com/office/drawing/2014/main" id="{FE8321C9-0256-40B2-A951-5DF7F911EA41}"/>
              </a:ext>
            </a:extLst>
          </p:cNvPr>
          <p:cNvSpPr/>
          <p:nvPr/>
        </p:nvSpPr>
        <p:spPr>
          <a:xfrm>
            <a:off x="6552140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预警通报流程</a:t>
            </a:r>
          </a:p>
        </p:txBody>
      </p:sp>
      <p:sp>
        <p:nvSpPr>
          <p:cNvPr id="233" name="圆角矩形 57">
            <a:extLst>
              <a:ext uri="{FF2B5EF4-FFF2-40B4-BE49-F238E27FC236}">
                <a16:creationId xmlns:a16="http://schemas.microsoft.com/office/drawing/2014/main" id="{A15BA197-1730-41BC-A291-9B186AB92B0C}"/>
              </a:ext>
            </a:extLst>
          </p:cNvPr>
          <p:cNvSpPr/>
          <p:nvPr/>
        </p:nvSpPr>
        <p:spPr>
          <a:xfrm>
            <a:off x="4878307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应急处置流程</a:t>
            </a:r>
          </a:p>
        </p:txBody>
      </p:sp>
      <p:sp>
        <p:nvSpPr>
          <p:cNvPr id="234" name="圆角矩形 68">
            <a:extLst>
              <a:ext uri="{FF2B5EF4-FFF2-40B4-BE49-F238E27FC236}">
                <a16:creationId xmlns:a16="http://schemas.microsoft.com/office/drawing/2014/main" id="{B7AE1F3C-F3CA-452A-A98E-5370D71702F6}"/>
              </a:ext>
            </a:extLst>
          </p:cNvPr>
          <p:cNvSpPr/>
          <p:nvPr/>
        </p:nvSpPr>
        <p:spPr>
          <a:xfrm>
            <a:off x="3876289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网络策略调整流程</a:t>
            </a:r>
          </a:p>
        </p:txBody>
      </p:sp>
      <p:sp>
        <p:nvSpPr>
          <p:cNvPr id="235" name="圆角矩形 55">
            <a:extLst>
              <a:ext uri="{FF2B5EF4-FFF2-40B4-BE49-F238E27FC236}">
                <a16:creationId xmlns:a16="http://schemas.microsoft.com/office/drawing/2014/main" id="{B9226FE6-6243-4246-9318-4CC1BE63C701}"/>
              </a:ext>
            </a:extLst>
          </p:cNvPr>
          <p:cNvSpPr/>
          <p:nvPr/>
        </p:nvSpPr>
        <p:spPr>
          <a:xfrm>
            <a:off x="5869205" y="2317263"/>
            <a:ext cx="254517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威胁情报处理流程</a:t>
            </a:r>
          </a:p>
        </p:txBody>
      </p:sp>
      <p:sp>
        <p:nvSpPr>
          <p:cNvPr id="236" name="圆角矩形 40">
            <a:extLst>
              <a:ext uri="{FF2B5EF4-FFF2-40B4-BE49-F238E27FC236}">
                <a16:creationId xmlns:a16="http://schemas.microsoft.com/office/drawing/2014/main" id="{ADF4981E-FD25-45AC-83C6-307F82185630}"/>
              </a:ext>
            </a:extLst>
          </p:cNvPr>
          <p:cNvSpPr/>
          <p:nvPr/>
        </p:nvSpPr>
        <p:spPr>
          <a:xfrm>
            <a:off x="1204241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对象识别报备流程</a:t>
            </a:r>
          </a:p>
        </p:txBody>
      </p:sp>
      <p:sp>
        <p:nvSpPr>
          <p:cNvPr id="237" name="圆角矩形 49">
            <a:extLst>
              <a:ext uri="{FF2B5EF4-FFF2-40B4-BE49-F238E27FC236}">
                <a16:creationId xmlns:a16="http://schemas.microsoft.com/office/drawing/2014/main" id="{235706F5-9A9B-41F1-B1CC-10E0CD943A36}"/>
              </a:ext>
            </a:extLst>
          </p:cNvPr>
          <p:cNvSpPr/>
          <p:nvPr/>
        </p:nvSpPr>
        <p:spPr>
          <a:xfrm>
            <a:off x="5545405" y="2317263"/>
            <a:ext cx="221160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安全演练流程</a:t>
            </a:r>
          </a:p>
        </p:txBody>
      </p:sp>
      <p:sp>
        <p:nvSpPr>
          <p:cNvPr id="238" name="圆角矩形 38">
            <a:extLst>
              <a:ext uri="{FF2B5EF4-FFF2-40B4-BE49-F238E27FC236}">
                <a16:creationId xmlns:a16="http://schemas.microsoft.com/office/drawing/2014/main" id="{87801EDA-8EB7-45BB-845B-8EA38D94F095}"/>
              </a:ext>
            </a:extLst>
          </p:cNvPr>
          <p:cNvSpPr/>
          <p:nvPr/>
        </p:nvSpPr>
        <p:spPr>
          <a:xfrm>
            <a:off x="6886146" y="2317263"/>
            <a:ext cx="211623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信息共享流程</a:t>
            </a:r>
          </a:p>
        </p:txBody>
      </p:sp>
      <p:sp>
        <p:nvSpPr>
          <p:cNvPr id="239" name="圆角矩形 38">
            <a:extLst>
              <a:ext uri="{FF2B5EF4-FFF2-40B4-BE49-F238E27FC236}">
                <a16:creationId xmlns:a16="http://schemas.microsoft.com/office/drawing/2014/main" id="{05C45531-E836-4C5D-8119-85F279E7E082}"/>
              </a:ext>
            </a:extLst>
          </p:cNvPr>
          <p:cNvSpPr/>
          <p:nvPr/>
        </p:nvSpPr>
        <p:spPr>
          <a:xfrm>
            <a:off x="7200409" y="2317263"/>
            <a:ext cx="227175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指挥调度流程</a:t>
            </a: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8FFF96C9-A200-4865-B797-D70741CFFFC9}"/>
              </a:ext>
            </a:extLst>
          </p:cNvPr>
          <p:cNvCxnSpPr>
            <a:cxnSpLocks/>
          </p:cNvCxnSpPr>
          <p:nvPr/>
        </p:nvCxnSpPr>
        <p:spPr>
          <a:xfrm flipV="1">
            <a:off x="4307982" y="2164487"/>
            <a:ext cx="0" cy="1206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2C8BC21D-922A-4B44-BFF8-3738EE1BA293}"/>
              </a:ext>
            </a:extLst>
          </p:cNvPr>
          <p:cNvSpPr/>
          <p:nvPr/>
        </p:nvSpPr>
        <p:spPr>
          <a:xfrm>
            <a:off x="690565" y="5229446"/>
            <a:ext cx="11225663" cy="100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F4A97766-0369-49D0-853E-92201FB0B5D6}"/>
              </a:ext>
            </a:extLst>
          </p:cNvPr>
          <p:cNvSpPr/>
          <p:nvPr/>
        </p:nvSpPr>
        <p:spPr>
          <a:xfrm>
            <a:off x="1185088" y="5882273"/>
            <a:ext cx="10599776" cy="3076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基础保护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B78881AC-9D83-4824-B3D7-7F7B3C6762CF}"/>
              </a:ext>
            </a:extLst>
          </p:cNvPr>
          <p:cNvSpPr/>
          <p:nvPr/>
        </p:nvSpPr>
        <p:spPr>
          <a:xfrm>
            <a:off x="1185088" y="5270477"/>
            <a:ext cx="10599776" cy="5741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强化保护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F7474849-FF8C-4DC7-9F0D-8B2F63E30AD1}"/>
              </a:ext>
            </a:extLst>
          </p:cNvPr>
          <p:cNvSpPr/>
          <p:nvPr/>
        </p:nvSpPr>
        <p:spPr>
          <a:xfrm>
            <a:off x="2155645" y="5934318"/>
            <a:ext cx="338498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合规安全建设</a:t>
            </a: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FDECA1DA-714F-48D2-921B-98B588F0F876}"/>
              </a:ext>
            </a:extLst>
          </p:cNvPr>
          <p:cNvSpPr/>
          <p:nvPr/>
        </p:nvSpPr>
        <p:spPr>
          <a:xfrm>
            <a:off x="5861378" y="5934997"/>
            <a:ext cx="255595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供应链安全</a:t>
            </a: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8FC4C0D5-935C-4850-BFD6-3ECAE8F09C31}"/>
              </a:ext>
            </a:extLst>
          </p:cNvPr>
          <p:cNvSpPr/>
          <p:nvPr/>
        </p:nvSpPr>
        <p:spPr>
          <a:xfrm>
            <a:off x="8674989" y="5934997"/>
            <a:ext cx="2918912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暴露面收敛</a:t>
            </a: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323A9695-0927-4030-AC3B-55F85B7F271E}"/>
              </a:ext>
            </a:extLst>
          </p:cNvPr>
          <p:cNvSpPr/>
          <p:nvPr/>
        </p:nvSpPr>
        <p:spPr>
          <a:xfrm>
            <a:off x="4541282" y="5594239"/>
            <a:ext cx="2321049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事件审计取证</a:t>
            </a:r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95783C70-0434-476B-B245-162D01706061}"/>
              </a:ext>
            </a:extLst>
          </p:cNvPr>
          <p:cNvSpPr/>
          <p:nvPr/>
        </p:nvSpPr>
        <p:spPr>
          <a:xfrm>
            <a:off x="2154078" y="5593349"/>
            <a:ext cx="2321049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策略统一管控</a:t>
            </a: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A6E22FA6-6531-49C3-AB4F-22E5B8952B1C}"/>
              </a:ext>
            </a:extLst>
          </p:cNvPr>
          <p:cNvSpPr/>
          <p:nvPr/>
        </p:nvSpPr>
        <p:spPr>
          <a:xfrm>
            <a:off x="4542336" y="5329938"/>
            <a:ext cx="2321049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风险统一管控</a:t>
            </a: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4507F8A7-CD59-4786-B462-0CDB392B3725}"/>
              </a:ext>
            </a:extLst>
          </p:cNvPr>
          <p:cNvSpPr/>
          <p:nvPr/>
        </p:nvSpPr>
        <p:spPr>
          <a:xfrm>
            <a:off x="2154078" y="5329536"/>
            <a:ext cx="2321049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动态资产库建设</a:t>
            </a: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155CB50A-D2FC-4E97-A85F-2D1CD8B6A62C}"/>
              </a:ext>
            </a:extLst>
          </p:cNvPr>
          <p:cNvSpPr/>
          <p:nvPr/>
        </p:nvSpPr>
        <p:spPr>
          <a:xfrm>
            <a:off x="6907959" y="5329938"/>
            <a:ext cx="2321049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应急响应和处置体系建设</a:t>
            </a: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FD6A3FD0-01B7-4C3B-B415-9C2BAB56F392}"/>
              </a:ext>
            </a:extLst>
          </p:cNvPr>
          <p:cNvSpPr/>
          <p:nvPr/>
        </p:nvSpPr>
        <p:spPr>
          <a:xfrm>
            <a:off x="6908967" y="5596087"/>
            <a:ext cx="2321049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建立演练靶场，常态化训练演练</a:t>
            </a: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9BBA5969-2899-4779-A012-BCE2619481EB}"/>
              </a:ext>
            </a:extLst>
          </p:cNvPr>
          <p:cNvSpPr/>
          <p:nvPr/>
        </p:nvSpPr>
        <p:spPr>
          <a:xfrm>
            <a:off x="9276652" y="5329536"/>
            <a:ext cx="2317979" cy="4727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数据流动监管</a:t>
            </a:r>
          </a:p>
        </p:txBody>
      </p:sp>
      <p:sp>
        <p:nvSpPr>
          <p:cNvPr id="254" name="梯形 253">
            <a:extLst>
              <a:ext uri="{FF2B5EF4-FFF2-40B4-BE49-F238E27FC236}">
                <a16:creationId xmlns:a16="http://schemas.microsoft.com/office/drawing/2014/main" id="{A0E46C75-4290-44A4-B572-60F430B4F464}"/>
              </a:ext>
            </a:extLst>
          </p:cNvPr>
          <p:cNvSpPr/>
          <p:nvPr/>
        </p:nvSpPr>
        <p:spPr>
          <a:xfrm>
            <a:off x="480000" y="6273544"/>
            <a:ext cx="11624854" cy="442622"/>
          </a:xfrm>
          <a:prstGeom prst="trapezoid">
            <a:avLst>
              <a:gd name="adj" fmla="val 4519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2257C896-7C65-4906-A8ED-2A539F608D3E}"/>
              </a:ext>
            </a:extLst>
          </p:cNvPr>
          <p:cNvSpPr/>
          <p:nvPr/>
        </p:nvSpPr>
        <p:spPr>
          <a:xfrm>
            <a:off x="2405685" y="6491146"/>
            <a:ext cx="1240789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云平台</a:t>
            </a: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DBB384E6-E070-4BE2-AC81-A20534AE9179}"/>
              </a:ext>
            </a:extLst>
          </p:cNvPr>
          <p:cNvSpPr/>
          <p:nvPr/>
        </p:nvSpPr>
        <p:spPr>
          <a:xfrm>
            <a:off x="5665587" y="6491146"/>
            <a:ext cx="1240789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数据资产</a:t>
            </a: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EAD9A2F4-EB01-44A8-B0CF-31A612F38EEF}"/>
              </a:ext>
            </a:extLst>
          </p:cNvPr>
          <p:cNvSpPr/>
          <p:nvPr/>
        </p:nvSpPr>
        <p:spPr>
          <a:xfrm>
            <a:off x="7295538" y="6491146"/>
            <a:ext cx="1240789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终端设备</a:t>
            </a: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B330069D-1828-4A95-B825-93096F3BFBAA}"/>
              </a:ext>
            </a:extLst>
          </p:cNvPr>
          <p:cNvSpPr/>
          <p:nvPr/>
        </p:nvSpPr>
        <p:spPr>
          <a:xfrm>
            <a:off x="8925489" y="6491146"/>
            <a:ext cx="1240789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通信网络</a:t>
            </a: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F1D52FCE-3E54-4956-A370-F44C62128D7A}"/>
              </a:ext>
            </a:extLst>
          </p:cNvPr>
          <p:cNvSpPr/>
          <p:nvPr/>
        </p:nvSpPr>
        <p:spPr>
          <a:xfrm>
            <a:off x="10555439" y="6491146"/>
            <a:ext cx="1240789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工控系统</a:t>
            </a: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4875F30A-6403-4274-A9C9-A2C36B80799F}"/>
              </a:ext>
            </a:extLst>
          </p:cNvPr>
          <p:cNvSpPr/>
          <p:nvPr/>
        </p:nvSpPr>
        <p:spPr>
          <a:xfrm>
            <a:off x="837775" y="6491146"/>
            <a:ext cx="1178748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基础支撑</a:t>
            </a: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84ADC5D1-976C-4C86-A5D8-E87F8EDA4B06}"/>
              </a:ext>
            </a:extLst>
          </p:cNvPr>
          <p:cNvSpPr/>
          <p:nvPr/>
        </p:nvSpPr>
        <p:spPr>
          <a:xfrm>
            <a:off x="4035636" y="6491146"/>
            <a:ext cx="1240789" cy="1822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信息系统</a:t>
            </a: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E4877966-8867-4873-8623-CBEBDBEEB08E}"/>
              </a:ext>
            </a:extLst>
          </p:cNvPr>
          <p:cNvSpPr/>
          <p:nvPr/>
        </p:nvSpPr>
        <p:spPr>
          <a:xfrm>
            <a:off x="2408811" y="6264407"/>
            <a:ext cx="7409895" cy="226140"/>
          </a:xfrm>
          <a:prstGeom prst="rect">
            <a:avLst/>
          </a:prstGeom>
          <a:noFill/>
          <a:ln w="12700" cap="rnd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重要信息基础设施</a:t>
            </a: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神经中枢</a:t>
            </a: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业务中枢、数据中枢、平台中枢、安全中枢、运行中枢</a:t>
            </a: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，实行重点保护</a:t>
            </a:r>
            <a:endParaRPr lang="en-US" altLang="zh-CN" sz="1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CED6A4C1-99E4-4F63-85CF-8B8A444F32F7}"/>
              </a:ext>
            </a:extLst>
          </p:cNvPr>
          <p:cNvSpPr txBox="1"/>
          <p:nvPr/>
        </p:nvSpPr>
        <p:spPr>
          <a:xfrm>
            <a:off x="56313" y="1458793"/>
            <a:ext cx="661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安全管理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2B067838-7C12-43A9-B1C7-31CF3B90FE99}"/>
              </a:ext>
            </a:extLst>
          </p:cNvPr>
          <p:cNvSpPr txBox="1"/>
          <p:nvPr/>
        </p:nvSpPr>
        <p:spPr>
          <a:xfrm>
            <a:off x="84289" y="3495417"/>
            <a:ext cx="606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</a:t>
            </a:r>
          </a:p>
        </p:txBody>
      </p:sp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915CE9B8-DAAE-4D1B-A0F6-A4D02174251C}"/>
              </a:ext>
            </a:extLst>
          </p:cNvPr>
          <p:cNvCxnSpPr>
            <a:cxnSpLocks/>
          </p:cNvCxnSpPr>
          <p:nvPr/>
        </p:nvCxnSpPr>
        <p:spPr>
          <a:xfrm flipV="1">
            <a:off x="368370" y="855794"/>
            <a:ext cx="1619" cy="603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64218BC8-30B7-46CE-88B1-7AA39C2BF9C9}"/>
              </a:ext>
            </a:extLst>
          </p:cNvPr>
          <p:cNvCxnSpPr>
            <a:cxnSpLocks/>
          </p:cNvCxnSpPr>
          <p:nvPr/>
        </p:nvCxnSpPr>
        <p:spPr>
          <a:xfrm flipH="1">
            <a:off x="381257" y="2127765"/>
            <a:ext cx="650" cy="696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B28FA82E-FF68-4EED-BEE4-FC2340324D24}"/>
              </a:ext>
            </a:extLst>
          </p:cNvPr>
          <p:cNvCxnSpPr>
            <a:cxnSpLocks/>
          </p:cNvCxnSpPr>
          <p:nvPr/>
        </p:nvCxnSpPr>
        <p:spPr>
          <a:xfrm>
            <a:off x="177549" y="856297"/>
            <a:ext cx="4478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9868F543-05EC-434A-92AC-985FB433D199}"/>
              </a:ext>
            </a:extLst>
          </p:cNvPr>
          <p:cNvCxnSpPr>
            <a:cxnSpLocks/>
          </p:cNvCxnSpPr>
          <p:nvPr/>
        </p:nvCxnSpPr>
        <p:spPr>
          <a:xfrm>
            <a:off x="202476" y="2825322"/>
            <a:ext cx="388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F76FBA6C-81F3-42A9-8C5F-B794409A7A5B}"/>
              </a:ext>
            </a:extLst>
          </p:cNvPr>
          <p:cNvCxnSpPr>
            <a:cxnSpLocks/>
          </p:cNvCxnSpPr>
          <p:nvPr/>
        </p:nvCxnSpPr>
        <p:spPr>
          <a:xfrm flipH="1" flipV="1">
            <a:off x="381907" y="2840552"/>
            <a:ext cx="5521" cy="625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CDF6AFD1-9723-46D9-BD4C-59D3527BF3C2}"/>
              </a:ext>
            </a:extLst>
          </p:cNvPr>
          <p:cNvCxnSpPr>
            <a:cxnSpLocks/>
          </p:cNvCxnSpPr>
          <p:nvPr/>
        </p:nvCxnSpPr>
        <p:spPr>
          <a:xfrm>
            <a:off x="177098" y="5157192"/>
            <a:ext cx="388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AAF17D7E-FDF7-4A6A-BD52-C93F5EB5EA52}"/>
              </a:ext>
            </a:extLst>
          </p:cNvPr>
          <p:cNvCxnSpPr>
            <a:cxnSpLocks/>
          </p:cNvCxnSpPr>
          <p:nvPr/>
        </p:nvCxnSpPr>
        <p:spPr>
          <a:xfrm>
            <a:off x="202476" y="6239383"/>
            <a:ext cx="388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箭头连接符 271">
            <a:extLst>
              <a:ext uri="{FF2B5EF4-FFF2-40B4-BE49-F238E27FC236}">
                <a16:creationId xmlns:a16="http://schemas.microsoft.com/office/drawing/2014/main" id="{8018F0D6-1803-49C9-9915-76EC4A8F1D0F}"/>
              </a:ext>
            </a:extLst>
          </p:cNvPr>
          <p:cNvCxnSpPr>
            <a:cxnSpLocks/>
          </p:cNvCxnSpPr>
          <p:nvPr/>
        </p:nvCxnSpPr>
        <p:spPr>
          <a:xfrm flipH="1" flipV="1">
            <a:off x="371443" y="5173429"/>
            <a:ext cx="3524" cy="2096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F17EA217-86FD-44F1-8330-73F0C5FC9C63}"/>
              </a:ext>
            </a:extLst>
          </p:cNvPr>
          <p:cNvCxnSpPr>
            <a:cxnSpLocks/>
          </p:cNvCxnSpPr>
          <p:nvPr/>
        </p:nvCxnSpPr>
        <p:spPr>
          <a:xfrm>
            <a:off x="372913" y="4123734"/>
            <a:ext cx="9551" cy="1033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1910E845-1865-4864-98A8-89B3915AD833}"/>
              </a:ext>
            </a:extLst>
          </p:cNvPr>
          <p:cNvCxnSpPr>
            <a:cxnSpLocks/>
          </p:cNvCxnSpPr>
          <p:nvPr/>
        </p:nvCxnSpPr>
        <p:spPr>
          <a:xfrm>
            <a:off x="371443" y="5909568"/>
            <a:ext cx="0" cy="2720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文本框 274">
            <a:extLst>
              <a:ext uri="{FF2B5EF4-FFF2-40B4-BE49-F238E27FC236}">
                <a16:creationId xmlns:a16="http://schemas.microsoft.com/office/drawing/2014/main" id="{0705187E-8DE6-45E0-B79F-393A40F599D4}"/>
              </a:ext>
            </a:extLst>
          </p:cNvPr>
          <p:cNvSpPr txBox="1"/>
          <p:nvPr/>
        </p:nvSpPr>
        <p:spPr>
          <a:xfrm>
            <a:off x="86334" y="5372778"/>
            <a:ext cx="625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安全技术</a:t>
            </a: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7395C410-088E-425D-A7D3-D077C332BEF7}"/>
              </a:ext>
            </a:extLst>
          </p:cNvPr>
          <p:cNvSpPr/>
          <p:nvPr/>
        </p:nvSpPr>
        <p:spPr>
          <a:xfrm>
            <a:off x="687300" y="3475589"/>
            <a:ext cx="11223164" cy="10318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13159914-D5F3-44C5-BD23-BCC87CACA58E}"/>
              </a:ext>
            </a:extLst>
          </p:cNvPr>
          <p:cNvSpPr/>
          <p:nvPr/>
        </p:nvSpPr>
        <p:spPr>
          <a:xfrm>
            <a:off x="1181822" y="3521621"/>
            <a:ext cx="10599777" cy="2826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指挥协同</a:t>
            </a:r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E3D5AFD7-191D-48F5-9ED2-5368E8D0529A}"/>
              </a:ext>
            </a:extLst>
          </p:cNvPr>
          <p:cNvSpPr/>
          <p:nvPr/>
        </p:nvSpPr>
        <p:spPr>
          <a:xfrm>
            <a:off x="690565" y="4547239"/>
            <a:ext cx="11223164" cy="6364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FBD0BEE8-D98A-4E07-AA92-217B70E7F729}"/>
              </a:ext>
            </a:extLst>
          </p:cNvPr>
          <p:cNvSpPr/>
          <p:nvPr/>
        </p:nvSpPr>
        <p:spPr>
          <a:xfrm>
            <a:off x="8926597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应急预案演练</a:t>
            </a: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D6C5F662-35D5-4581-A64E-DE98341292C1}"/>
              </a:ext>
            </a:extLst>
          </p:cNvPr>
          <p:cNvSpPr/>
          <p:nvPr/>
        </p:nvSpPr>
        <p:spPr>
          <a:xfrm>
            <a:off x="2098762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辅助决策</a:t>
            </a: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63936A47-F4C2-42DA-8F0B-89553D5AC6D8}"/>
              </a:ext>
            </a:extLst>
          </p:cNvPr>
          <p:cNvSpPr/>
          <p:nvPr/>
        </p:nvSpPr>
        <p:spPr>
          <a:xfrm>
            <a:off x="4829896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应急指挥调度</a:t>
            </a: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66126CF2-FED8-4209-9E1F-E04A29BF8E39}"/>
              </a:ext>
            </a:extLst>
          </p:cNvPr>
          <p:cNvSpPr/>
          <p:nvPr/>
        </p:nvSpPr>
        <p:spPr>
          <a:xfrm>
            <a:off x="3464329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事态展示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D266EC5A-52DA-4355-B801-024C4E0BEE53}"/>
              </a:ext>
            </a:extLst>
          </p:cNvPr>
          <p:cNvSpPr/>
          <p:nvPr/>
        </p:nvSpPr>
        <p:spPr>
          <a:xfrm>
            <a:off x="1181823" y="4163220"/>
            <a:ext cx="10599776" cy="28867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安全运营</a:t>
            </a: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28A01805-D730-4A0B-B01F-03FC1DE93D2C}"/>
              </a:ext>
            </a:extLst>
          </p:cNvPr>
          <p:cNvSpPr/>
          <p:nvPr/>
        </p:nvSpPr>
        <p:spPr>
          <a:xfrm>
            <a:off x="1181823" y="3840333"/>
            <a:ext cx="10599776" cy="284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信息共享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3CD48276-38E1-45CD-9AE8-D81F5F6CC567}"/>
              </a:ext>
            </a:extLst>
          </p:cNvPr>
          <p:cNvSpPr/>
          <p:nvPr/>
        </p:nvSpPr>
        <p:spPr>
          <a:xfrm>
            <a:off x="7561030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安全资源管理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0EF4581E-FE5F-4A62-AF23-B7D03354F5BC}"/>
              </a:ext>
            </a:extLst>
          </p:cNvPr>
          <p:cNvSpPr/>
          <p:nvPr/>
        </p:nvSpPr>
        <p:spPr>
          <a:xfrm>
            <a:off x="6195463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应急数据挖掘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4D009023-B8E8-4CD8-8DE0-747F7E03E949}"/>
              </a:ext>
            </a:extLst>
          </p:cNvPr>
          <p:cNvSpPr/>
          <p:nvPr/>
        </p:nvSpPr>
        <p:spPr>
          <a:xfrm>
            <a:off x="10337941" y="356418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事件处置稽核</a:t>
            </a: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EC6BF7C6-5D10-411C-8A59-50A7A1633D9F}"/>
              </a:ext>
            </a:extLst>
          </p:cNvPr>
          <p:cNvSpPr/>
          <p:nvPr/>
        </p:nvSpPr>
        <p:spPr>
          <a:xfrm>
            <a:off x="7463377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安全培训</a:t>
            </a: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DD8F6BFC-E5EA-4C9B-8D3C-F51473C09863}"/>
              </a:ext>
            </a:extLst>
          </p:cNvPr>
          <p:cNvSpPr/>
          <p:nvPr/>
        </p:nvSpPr>
        <p:spPr>
          <a:xfrm>
            <a:off x="2098762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日常安全管理</a:t>
            </a: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1B81DED0-569C-4EF2-A186-D9339E783CBA}"/>
              </a:ext>
            </a:extLst>
          </p:cNvPr>
          <p:cNvSpPr/>
          <p:nvPr/>
        </p:nvSpPr>
        <p:spPr>
          <a:xfrm>
            <a:off x="4244608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预警通报</a:t>
            </a: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67B93BCF-0329-424D-9EFF-B4EB35CFE460}"/>
              </a:ext>
            </a:extLst>
          </p:cNvPr>
          <p:cNvSpPr/>
          <p:nvPr/>
        </p:nvSpPr>
        <p:spPr>
          <a:xfrm>
            <a:off x="3171685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流程管理</a:t>
            </a: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9E5DDCB0-E762-462A-A2F6-D29789AEDD03}"/>
              </a:ext>
            </a:extLst>
          </p:cNvPr>
          <p:cNvSpPr/>
          <p:nvPr/>
        </p:nvSpPr>
        <p:spPr>
          <a:xfrm>
            <a:off x="6390454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统计报表</a:t>
            </a: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C00271AB-2943-4176-A550-EFF9E7B1AB4A}"/>
              </a:ext>
            </a:extLst>
          </p:cNvPr>
          <p:cNvSpPr/>
          <p:nvPr/>
        </p:nvSpPr>
        <p:spPr>
          <a:xfrm>
            <a:off x="5317531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等级保护</a:t>
            </a: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EF5888A2-D25F-49D5-BFCF-C8F0F7E6D942}"/>
              </a:ext>
            </a:extLst>
          </p:cNvPr>
          <p:cNvSpPr/>
          <p:nvPr/>
        </p:nvSpPr>
        <p:spPr>
          <a:xfrm>
            <a:off x="8536300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知识库管理</a:t>
            </a:r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33CFFF44-694D-4CA3-8244-6150C5CD2A78}"/>
              </a:ext>
            </a:extLst>
          </p:cNvPr>
          <p:cNvSpPr/>
          <p:nvPr/>
        </p:nvSpPr>
        <p:spPr>
          <a:xfrm>
            <a:off x="8930338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风险提示</a:t>
            </a: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A12EE085-8E53-423D-9949-6FCC0A4C3A6F}"/>
              </a:ext>
            </a:extLst>
          </p:cNvPr>
          <p:cNvSpPr/>
          <p:nvPr/>
        </p:nvSpPr>
        <p:spPr>
          <a:xfrm>
            <a:off x="2098762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最佳实践集</a:t>
            </a: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6ECF00A9-1CEA-475B-BAE0-B5C662CA1B28}"/>
              </a:ext>
            </a:extLst>
          </p:cNvPr>
          <p:cNvSpPr/>
          <p:nvPr/>
        </p:nvSpPr>
        <p:spPr>
          <a:xfrm>
            <a:off x="4831392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事件通报</a:t>
            </a:r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BD63BD4B-36B1-47FB-A18F-2CF9C3BDCCCA}"/>
              </a:ext>
            </a:extLst>
          </p:cNvPr>
          <p:cNvSpPr/>
          <p:nvPr/>
        </p:nvSpPr>
        <p:spPr>
          <a:xfrm>
            <a:off x="3465077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安全事件集</a:t>
            </a: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9979030-408A-4472-A76B-1E4AA66BC3A6}"/>
              </a:ext>
            </a:extLst>
          </p:cNvPr>
          <p:cNvSpPr/>
          <p:nvPr/>
        </p:nvSpPr>
        <p:spPr>
          <a:xfrm>
            <a:off x="7564022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威胁情报</a:t>
            </a: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29D7384B-0316-40F5-AAB2-0300AEE35C55}"/>
              </a:ext>
            </a:extLst>
          </p:cNvPr>
          <p:cNvSpPr/>
          <p:nvPr/>
        </p:nvSpPr>
        <p:spPr>
          <a:xfrm>
            <a:off x="6197707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漏洞信息</a:t>
            </a: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E0A6D20D-E9B3-42D6-95E7-B0B121A65B7A}"/>
              </a:ext>
            </a:extLst>
          </p:cNvPr>
          <p:cNvSpPr/>
          <p:nvPr/>
        </p:nvSpPr>
        <p:spPr>
          <a:xfrm>
            <a:off x="10337941" y="3875234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安全行业动态</a:t>
            </a: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9DE063D2-6A1C-4305-9A15-62462AC9899A}"/>
              </a:ext>
            </a:extLst>
          </p:cNvPr>
          <p:cNvSpPr/>
          <p:nvPr/>
        </p:nvSpPr>
        <p:spPr>
          <a:xfrm>
            <a:off x="1188299" y="4618280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暴露面分析</a:t>
            </a:r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82678831-31F7-45F9-A278-58E4CF639D54}"/>
              </a:ext>
            </a:extLst>
          </p:cNvPr>
          <p:cNvSpPr/>
          <p:nvPr/>
        </p:nvSpPr>
        <p:spPr>
          <a:xfrm>
            <a:off x="4323809" y="461800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威胁情报分析</a:t>
            </a:r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E4C7EAE1-5EF3-43AB-95E3-D8A0A5C32133}"/>
              </a:ext>
            </a:extLst>
          </p:cNvPr>
          <p:cNvSpPr/>
          <p:nvPr/>
        </p:nvSpPr>
        <p:spPr>
          <a:xfrm>
            <a:off x="2756054" y="461800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风险评估</a:t>
            </a: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C8349014-8F72-4388-AD5C-8D7D53E5E842}"/>
              </a:ext>
            </a:extLst>
          </p:cNvPr>
          <p:cNvSpPr/>
          <p:nvPr/>
        </p:nvSpPr>
        <p:spPr>
          <a:xfrm>
            <a:off x="10594826" y="4601560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攻击溯源</a:t>
            </a:r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EC6C199A-D492-4ADA-B14A-3C10A5841C54}"/>
              </a:ext>
            </a:extLst>
          </p:cNvPr>
          <p:cNvSpPr/>
          <p:nvPr/>
        </p:nvSpPr>
        <p:spPr>
          <a:xfrm>
            <a:off x="1188299" y="4900530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业务安全态势</a:t>
            </a:r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B727607B-0D8F-4190-B926-29981FDA45A8}"/>
              </a:ext>
            </a:extLst>
          </p:cNvPr>
          <p:cNvSpPr/>
          <p:nvPr/>
        </p:nvSpPr>
        <p:spPr>
          <a:xfrm>
            <a:off x="5219669" y="490025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EDR</a:t>
            </a: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</a:t>
            </a: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EBECB1D-87BD-494B-956B-D2A1BD3681EF}"/>
              </a:ext>
            </a:extLst>
          </p:cNvPr>
          <p:cNvSpPr/>
          <p:nvPr/>
        </p:nvSpPr>
        <p:spPr>
          <a:xfrm>
            <a:off x="2532089" y="490025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数据安全态势</a:t>
            </a:r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35E761CB-E0E1-4841-9509-27EBE0A538F2}"/>
              </a:ext>
            </a:extLst>
          </p:cNvPr>
          <p:cNvSpPr/>
          <p:nvPr/>
        </p:nvSpPr>
        <p:spPr>
          <a:xfrm>
            <a:off x="7907249" y="490025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A3EF37F9-56A0-4F81-8477-253BB4DA9939}"/>
              </a:ext>
            </a:extLst>
          </p:cNvPr>
          <p:cNvSpPr/>
          <p:nvPr/>
        </p:nvSpPr>
        <p:spPr>
          <a:xfrm>
            <a:off x="6563459" y="490025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IAM</a:t>
            </a: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</a:t>
            </a: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9075F796-27E3-448B-9D5E-433D471C3D03}"/>
              </a:ext>
            </a:extLst>
          </p:cNvPr>
          <p:cNvSpPr/>
          <p:nvPr/>
        </p:nvSpPr>
        <p:spPr>
          <a:xfrm>
            <a:off x="10594826" y="4879143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邮件安全态势</a:t>
            </a: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B73F62EC-A13C-438A-8C86-379E87960A87}"/>
              </a:ext>
            </a:extLst>
          </p:cNvPr>
          <p:cNvSpPr/>
          <p:nvPr/>
        </p:nvSpPr>
        <p:spPr>
          <a:xfrm>
            <a:off x="9251039" y="490025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弱点态势</a:t>
            </a:r>
          </a:p>
        </p:txBody>
      </p:sp>
      <p:sp>
        <p:nvSpPr>
          <p:cNvPr id="313" name="圆角矩形 42">
            <a:extLst>
              <a:ext uri="{FF2B5EF4-FFF2-40B4-BE49-F238E27FC236}">
                <a16:creationId xmlns:a16="http://schemas.microsoft.com/office/drawing/2014/main" id="{F9824D43-0894-498F-BA0E-FFDF54AEEB93}"/>
              </a:ext>
            </a:extLst>
          </p:cNvPr>
          <p:cNvSpPr/>
          <p:nvPr/>
        </p:nvSpPr>
        <p:spPr>
          <a:xfrm>
            <a:off x="1704979" y="1471029"/>
            <a:ext cx="351854" cy="6564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定级和备案管理细则</a:t>
            </a:r>
          </a:p>
        </p:txBody>
      </p: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4FFFFBF8-EB61-4EAE-86A0-DCE568647282}"/>
              </a:ext>
            </a:extLst>
          </p:cNvPr>
          <p:cNvCxnSpPr>
            <a:cxnSpLocks/>
            <a:stCxn id="170" idx="2"/>
            <a:endCxn id="313" idx="0"/>
          </p:cNvCxnSpPr>
          <p:nvPr/>
        </p:nvCxnSpPr>
        <p:spPr>
          <a:xfrm flipH="1">
            <a:off x="1880906" y="1366368"/>
            <a:ext cx="2460036" cy="1046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圆角矩形 40">
            <a:extLst>
              <a:ext uri="{FF2B5EF4-FFF2-40B4-BE49-F238E27FC236}">
                <a16:creationId xmlns:a16="http://schemas.microsoft.com/office/drawing/2014/main" id="{ADF4981E-FD25-45AC-83C6-307F82185630}"/>
              </a:ext>
            </a:extLst>
          </p:cNvPr>
          <p:cNvSpPr/>
          <p:nvPr/>
        </p:nvSpPr>
        <p:spPr>
          <a:xfrm>
            <a:off x="1538247" y="2317263"/>
            <a:ext cx="231366" cy="10777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定级备案流程</a:t>
            </a: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82678831-31F7-45F9-A278-58E4CF639D54}"/>
              </a:ext>
            </a:extLst>
          </p:cNvPr>
          <p:cNvSpPr/>
          <p:nvPr/>
        </p:nvSpPr>
        <p:spPr>
          <a:xfrm>
            <a:off x="3875879" y="4900259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关键基础设施态势</a:t>
            </a: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9F49ACA5-A52A-4A6B-8383-16EC6B8907DE}"/>
              </a:ext>
            </a:extLst>
          </p:cNvPr>
          <p:cNvSpPr/>
          <p:nvPr/>
        </p:nvSpPr>
        <p:spPr>
          <a:xfrm>
            <a:off x="5891564" y="4617120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响应处置</a:t>
            </a:r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9F49ACA5-A52A-4A6B-8383-16EC6B8907DE}"/>
              </a:ext>
            </a:extLst>
          </p:cNvPr>
          <p:cNvSpPr/>
          <p:nvPr/>
        </p:nvSpPr>
        <p:spPr>
          <a:xfrm>
            <a:off x="7459319" y="4623688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ID/IP</a:t>
            </a: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关联分析</a:t>
            </a:r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C8349014-8F72-4388-AD5C-8D7D53E5E842}"/>
              </a:ext>
            </a:extLst>
          </p:cNvPr>
          <p:cNvSpPr/>
          <p:nvPr/>
        </p:nvSpPr>
        <p:spPr>
          <a:xfrm>
            <a:off x="9027074" y="4623220"/>
            <a:ext cx="1194833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安全威胁命中</a:t>
            </a:r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EF5888A2-D25F-49D5-BFCF-C8F0F7E6D942}"/>
              </a:ext>
            </a:extLst>
          </p:cNvPr>
          <p:cNvSpPr/>
          <p:nvPr/>
        </p:nvSpPr>
        <p:spPr>
          <a:xfrm>
            <a:off x="9609223" y="4205012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绩效管理</a:t>
            </a:r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EF5888A2-D25F-49D5-BFCF-C8F0F7E6D942}"/>
              </a:ext>
            </a:extLst>
          </p:cNvPr>
          <p:cNvSpPr/>
          <p:nvPr/>
        </p:nvSpPr>
        <p:spPr>
          <a:xfrm>
            <a:off x="10682145" y="4206583"/>
            <a:ext cx="1018741" cy="208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资产管理</a:t>
            </a:r>
          </a:p>
        </p:txBody>
      </p:sp>
    </p:spTree>
    <p:extLst>
      <p:ext uri="{BB962C8B-B14F-4D97-AF65-F5344CB8AC3E}">
        <p14:creationId xmlns:p14="http://schemas.microsoft.com/office/powerpoint/2010/main" val="756064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CONTENTSID" val="850"/>
  <p:tag name="MH_SECTIONID" val="851,852,853,854,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Text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Text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SubTitle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Text"/>
  <p:tag name="MH_ORDER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SubTitle"/>
  <p:tag name="MH_ORDER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315142340"/>
  <p:tag name="MH_LIBRARY" val="GRAPHIC"/>
  <p:tag name="MH_TYPE" val="Other"/>
  <p:tag name="MH_ORDER" val="1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428200321"/>
  <p:tag name="MH_LIBRARY" val="GRAPHIC"/>
  <p:tag name="MH_TYPE" val="SubTitle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428200321"/>
  <p:tag name="MH_LIBRARY" val="GRAPHIC"/>
  <p:tag name="MH_TYPE" val="Other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428200321"/>
  <p:tag name="MH_LIBRARY" val="GRAPHIC"/>
  <p:tag name="MH_TYPE" val="SubTitle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428200321"/>
  <p:tag name="MH_LIBRARY" val="GRAPHIC"/>
  <p:tag name="MH_TYPE" val="Other"/>
  <p:tag name="MH_ORDER" val="2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10033</TotalTime>
  <Words>1150</Words>
  <Application>Microsoft Office PowerPoint</Application>
  <PresentationFormat>宽屏</PresentationFormat>
  <Paragraphs>271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宋体</vt:lpstr>
      <vt:lpstr>微软雅黑</vt:lpstr>
      <vt:lpstr>Arial</vt:lpstr>
      <vt:lpstr>Calibri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victor-win</dc:creator>
  <cp:lastModifiedBy>徐 冰清</cp:lastModifiedBy>
  <cp:revision>3691</cp:revision>
  <cp:lastPrinted>2013-07-04T09:41:41Z</cp:lastPrinted>
  <dcterms:created xsi:type="dcterms:W3CDTF">2013-05-27T08:29:31Z</dcterms:created>
  <dcterms:modified xsi:type="dcterms:W3CDTF">2020-10-09T08:36:35Z</dcterms:modified>
</cp:coreProperties>
</file>